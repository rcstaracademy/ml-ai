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9" r:id="rId20"/>
    <p:sldId id="274" r:id="rId21"/>
    <p:sldId id="275" r:id="rId22"/>
    <p:sldId id="277" r:id="rId23"/>
    <p:sldId id="276" r:id="rId24"/>
    <p:sldId id="278" r:id="rId25"/>
    <p:sldId id="280" r:id="rId26"/>
    <p:sldId id="281" r:id="rId27"/>
    <p:sldId id="282" r:id="rId28"/>
    <p:sldId id="283" r:id="rId29"/>
    <p:sldId id="285" r:id="rId30"/>
    <p:sldId id="284" r:id="rId31"/>
    <p:sldId id="287" r:id="rId32"/>
    <p:sldId id="286"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9" d="100"/>
          <a:sy n="69" d="100"/>
        </p:scale>
        <p:origin x="492"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B8715-8AD9-4EF8-AAEA-A3A418356008}" type="datetimeFigureOut">
              <a:rPr lang="en-US" smtClean="0"/>
              <a:t>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8CAEF6-C0C0-4F27-9BFB-795645ECED71}" type="slidenum">
              <a:rPr lang="en-US" smtClean="0"/>
              <a:t>‹#›</a:t>
            </a:fld>
            <a:endParaRPr lang="en-US"/>
          </a:p>
        </p:txBody>
      </p:sp>
    </p:spTree>
    <p:extLst>
      <p:ext uri="{BB962C8B-B14F-4D97-AF65-F5344CB8AC3E}">
        <p14:creationId xmlns:p14="http://schemas.microsoft.com/office/powerpoint/2010/main" val="1226975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8CAEF6-C0C0-4F27-9BFB-795645ECED71}" type="slidenum">
              <a:rPr lang="en-US" smtClean="0"/>
              <a:t>33</a:t>
            </a:fld>
            <a:endParaRPr lang="en-US"/>
          </a:p>
        </p:txBody>
      </p:sp>
    </p:spTree>
    <p:extLst>
      <p:ext uri="{BB962C8B-B14F-4D97-AF65-F5344CB8AC3E}">
        <p14:creationId xmlns:p14="http://schemas.microsoft.com/office/powerpoint/2010/main" val="9912274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38881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8438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14771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6033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007927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03424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47894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74957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58381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96843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2/5/2026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2010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2/5/2026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04458159"/>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data-science/descriptive-statistic/" TargetMode="External"/><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hyperlink" Target="https://www.geeksforgeeks.org/data-science/what-is-inferential-statistics/" TargetMode="External"/></Relationships>
</file>

<file path=ppt/slides/_rels/slide29.xml.rels><?xml version="1.0" encoding="UTF-8" standalone="yes"?>
<Relationships xmlns="http://schemas.openxmlformats.org/package/2006/relationships"><Relationship Id="rId2" Type="http://schemas.openxmlformats.org/officeDocument/2006/relationships/hyperlink" Target="https://www.geeksforgeeks.org/maths/qualitative-data/"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hyperlink" Target="https://pandas.pydata.org/pandas-docs/stable/reference/api/pandas.Series.html" TargetMode="External"/><Relationship Id="rId3" Type="http://schemas.openxmlformats.org/officeDocument/2006/relationships/hyperlink" Target="https://docs.scipy.org/doc/numpy/reference/arrays.ndarray.html" TargetMode="External"/><Relationship Id="rId7" Type="http://schemas.openxmlformats.org/officeDocument/2006/relationships/hyperlink" Target="https://pandas.pydata.org/pandas-docs/stable/" TargetMode="External"/><Relationship Id="rId2" Type="http://schemas.openxmlformats.org/officeDocument/2006/relationships/hyperlink" Target="https://docs.scipy.org/doc/numpy/user/index.html" TargetMode="External"/><Relationship Id="rId1" Type="http://schemas.openxmlformats.org/officeDocument/2006/relationships/slideLayout" Target="../slideLayouts/slideLayout2.xml"/><Relationship Id="rId6" Type="http://schemas.openxmlformats.org/officeDocument/2006/relationships/hyperlink" Target="https://docs.scipy.org/doc/scipy/reference/stats.html" TargetMode="External"/><Relationship Id="rId5" Type="http://schemas.openxmlformats.org/officeDocument/2006/relationships/hyperlink" Target="https://www.scipy.org/getting-started.html" TargetMode="External"/><Relationship Id="rId10" Type="http://schemas.openxmlformats.org/officeDocument/2006/relationships/hyperlink" Target="https://matplotlib.org/" TargetMode="External"/><Relationship Id="rId4" Type="http://schemas.openxmlformats.org/officeDocument/2006/relationships/hyperlink" Target="https://docs.scipy.org/doc/numpy/reference/routines.statistics.html" TargetMode="External"/><Relationship Id="rId9" Type="http://schemas.openxmlformats.org/officeDocument/2006/relationships/hyperlink" Target="https://pandas.pydata.org/pandas-docs/stable/reference/api/pandas.DataFrame.html"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An example of a molecular structure">
            <a:extLst>
              <a:ext uri="{FF2B5EF4-FFF2-40B4-BE49-F238E27FC236}">
                <a16:creationId xmlns:a16="http://schemas.microsoft.com/office/drawing/2014/main" id="{94563A26-4F98-51FC-69AF-D02F310D406A}"/>
              </a:ext>
            </a:extLst>
          </p:cNvPr>
          <p:cNvPicPr>
            <a:picLocks noChangeAspect="1"/>
          </p:cNvPicPr>
          <p:nvPr/>
        </p:nvPicPr>
        <p:blipFill>
          <a:blip r:embed="rId2"/>
          <a:srcRect t="13000" b="5182"/>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BA613B5F-0A75-1B92-3611-D6C401E05B04}"/>
              </a:ext>
            </a:extLst>
          </p:cNvPr>
          <p:cNvSpPr>
            <a:spLocks noGrp="1"/>
          </p:cNvSpPr>
          <p:nvPr>
            <p:ph type="ctrTitle"/>
          </p:nvPr>
        </p:nvSpPr>
        <p:spPr>
          <a:xfrm>
            <a:off x="320039" y="5731580"/>
            <a:ext cx="8196431" cy="960120"/>
          </a:xfrm>
          <a:ln>
            <a:noFill/>
          </a:ln>
        </p:spPr>
        <p:txBody>
          <a:bodyPr anchor="ctr">
            <a:normAutofit/>
          </a:bodyPr>
          <a:lstStyle/>
          <a:p>
            <a:r>
              <a:rPr lang="en-US" sz="4400" dirty="0"/>
              <a:t>ML, AI and Data Science</a:t>
            </a:r>
          </a:p>
        </p:txBody>
      </p:sp>
      <p:sp>
        <p:nvSpPr>
          <p:cNvPr id="3" name="Subtitle 2">
            <a:extLst>
              <a:ext uri="{FF2B5EF4-FFF2-40B4-BE49-F238E27FC236}">
                <a16:creationId xmlns:a16="http://schemas.microsoft.com/office/drawing/2014/main" id="{FBCFA4C4-3733-7E34-643F-9B9C670596CB}"/>
              </a:ext>
            </a:extLst>
          </p:cNvPr>
          <p:cNvSpPr>
            <a:spLocks noGrp="1"/>
          </p:cNvSpPr>
          <p:nvPr>
            <p:ph type="subTitle" idx="1"/>
          </p:nvPr>
        </p:nvSpPr>
        <p:spPr>
          <a:xfrm>
            <a:off x="8604503" y="5731580"/>
            <a:ext cx="3392781" cy="960120"/>
          </a:xfrm>
        </p:spPr>
        <p:txBody>
          <a:bodyPr anchor="ctr">
            <a:normAutofit/>
          </a:bodyPr>
          <a:lstStyle/>
          <a:p>
            <a:pPr algn="r"/>
            <a:r>
              <a:rPr lang="en-US" sz="1900"/>
              <a:t>Dr. Rakhee Chhibber</a:t>
            </a:r>
          </a:p>
        </p:txBody>
      </p:sp>
    </p:spTree>
    <p:extLst>
      <p:ext uri="{BB962C8B-B14F-4D97-AF65-F5344CB8AC3E}">
        <p14:creationId xmlns:p14="http://schemas.microsoft.com/office/powerpoint/2010/main" val="31286675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reeform: Shape 2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6" name="Rectangle 25">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EB441C1-AA8F-4964-A4E1-16823A9EAAB4}"/>
              </a:ext>
            </a:extLst>
          </p:cNvPr>
          <p:cNvSpPr>
            <a:spLocks noGrp="1"/>
          </p:cNvSpPr>
          <p:nvPr>
            <p:ph type="title"/>
          </p:nvPr>
        </p:nvSpPr>
        <p:spPr>
          <a:xfrm>
            <a:off x="521209" y="971397"/>
            <a:ext cx="3462236" cy="2947460"/>
          </a:xfrm>
        </p:spPr>
        <p:txBody>
          <a:bodyPr vert="horz" lIns="91440" tIns="45720" rIns="91440" bIns="45720" rtlCol="0" anchor="t">
            <a:normAutofit/>
          </a:bodyPr>
          <a:lstStyle/>
          <a:p>
            <a:r>
              <a:rPr lang="en-US" sz="4800"/>
              <a:t>AGENDA</a:t>
            </a:r>
          </a:p>
        </p:txBody>
      </p:sp>
      <p:sp>
        <p:nvSpPr>
          <p:cNvPr id="28" name="Rectangle 27">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520CDAB2-FCA1-205B-407F-B68220AFFB72}"/>
              </a:ext>
            </a:extLst>
          </p:cNvPr>
          <p:cNvGraphicFramePr>
            <a:graphicFrameLocks noGrp="1"/>
          </p:cNvGraphicFramePr>
          <p:nvPr>
            <p:ph idx="1"/>
            <p:extLst>
              <p:ext uri="{D42A27DB-BD31-4B8C-83A1-F6EECF244321}">
                <p14:modId xmlns:p14="http://schemas.microsoft.com/office/powerpoint/2010/main" val="4008903569"/>
              </p:ext>
            </p:extLst>
          </p:nvPr>
        </p:nvGraphicFramePr>
        <p:xfrm>
          <a:off x="4371704" y="1469354"/>
          <a:ext cx="7293594" cy="3704008"/>
        </p:xfrm>
        <a:graphic>
          <a:graphicData uri="http://schemas.openxmlformats.org/drawingml/2006/table">
            <a:tbl>
              <a:tblPr>
                <a:solidFill>
                  <a:schemeClr val="bg1"/>
                </a:solidFill>
              </a:tblPr>
              <a:tblGrid>
                <a:gridCol w="7293594">
                  <a:extLst>
                    <a:ext uri="{9D8B030D-6E8A-4147-A177-3AD203B41FA5}">
                      <a16:colId xmlns:a16="http://schemas.microsoft.com/office/drawing/2014/main" val="363459380"/>
                    </a:ext>
                  </a:extLst>
                </a:gridCol>
              </a:tblGrid>
              <a:tr h="1230799">
                <a:tc>
                  <a:txBody>
                    <a:bodyPr/>
                    <a:lstStyle/>
                    <a:p>
                      <a:pPr algn="l" fontAlgn="b">
                        <a:buNone/>
                      </a:pPr>
                      <a:r>
                        <a:rPr lang="en-US" sz="2700" b="0" i="0" u="none" strike="noStrike" cap="none" spc="0" dirty="0">
                          <a:solidFill>
                            <a:schemeClr val="tx1"/>
                          </a:solidFill>
                          <a:effectLst/>
                          <a:latin typeface="Aptos Narrow" panose="020B0004020202020204" pitchFamily="34" charset="0"/>
                        </a:rPr>
                        <a:t>Introduction to AI, ML and its relationship with Data Science</a:t>
                      </a:r>
                    </a:p>
                  </a:txBody>
                  <a:tcPr marL="226420" marR="12095" marT="174170" marB="174170" anchor="b">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222093896"/>
                  </a:ext>
                </a:extLst>
              </a:tr>
              <a:tr h="824403">
                <a:tc>
                  <a:txBody>
                    <a:bodyPr/>
                    <a:lstStyle/>
                    <a:p>
                      <a:pPr algn="l" fontAlgn="b">
                        <a:buNone/>
                      </a:pPr>
                      <a:r>
                        <a:rPr lang="en-US" sz="2700" b="0" i="0" u="none" strike="noStrike" cap="none" spc="0" dirty="0">
                          <a:solidFill>
                            <a:schemeClr val="tx1"/>
                          </a:solidFill>
                          <a:effectLst/>
                          <a:latin typeface="Aptos Narrow" panose="020B0004020202020204" pitchFamily="34" charset="0"/>
                        </a:rPr>
                        <a:t>Steps to build ML Project</a:t>
                      </a:r>
                    </a:p>
                  </a:txBody>
                  <a:tcPr marL="226420" marR="12095" marT="174170" marB="174170" anchor="b">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2494471586"/>
                  </a:ext>
                </a:extLst>
              </a:tr>
              <a:tr h="824403">
                <a:tc>
                  <a:txBody>
                    <a:bodyPr/>
                    <a:lstStyle/>
                    <a:p>
                      <a:pPr algn="l" fontAlgn="b">
                        <a:buNone/>
                      </a:pPr>
                      <a:r>
                        <a:rPr lang="en-US" sz="2700" b="0" i="0" u="none" strike="noStrike" cap="none" spc="0" dirty="0">
                          <a:solidFill>
                            <a:schemeClr val="tx1"/>
                          </a:solidFill>
                          <a:effectLst/>
                          <a:latin typeface="Aptos Narrow" panose="020B0004020202020204" pitchFamily="34" charset="0"/>
                        </a:rPr>
                        <a:t>Types and use of Data in ML projects</a:t>
                      </a:r>
                    </a:p>
                  </a:txBody>
                  <a:tcPr marL="226420" marR="12095" marT="174170" marB="174170" anchor="b">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1804380221"/>
                  </a:ext>
                </a:extLst>
              </a:tr>
              <a:tr h="824403">
                <a:tc>
                  <a:txBody>
                    <a:bodyPr/>
                    <a:lstStyle/>
                    <a:p>
                      <a:pPr algn="l" fontAlgn="b">
                        <a:buNone/>
                      </a:pPr>
                      <a:r>
                        <a:rPr lang="en-US" sz="2700" b="0" i="0" u="none" strike="noStrike" cap="none" spc="0" dirty="0">
                          <a:solidFill>
                            <a:schemeClr val="tx1"/>
                          </a:solidFill>
                          <a:effectLst/>
                          <a:latin typeface="Aptos Narrow" panose="020B0004020202020204" pitchFamily="34" charset="0"/>
                        </a:rPr>
                        <a:t>ML Platforms and their desired features</a:t>
                      </a:r>
                    </a:p>
                  </a:txBody>
                  <a:tcPr marL="226420" marR="12095" marT="174170" marB="174170" anchor="b">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19050" cap="flat" cmpd="sng" algn="ctr">
                      <a:solidFill>
                        <a:schemeClr val="tx1"/>
                      </a:solidFill>
                      <a:prstDash val="solid"/>
                    </a:lnB>
                    <a:noFill/>
                  </a:tcPr>
                </a:tc>
                <a:extLst>
                  <a:ext uri="{0D108BD9-81ED-4DB2-BD59-A6C34878D82A}">
                    <a16:rowId xmlns:a16="http://schemas.microsoft.com/office/drawing/2014/main" val="3291727947"/>
                  </a:ext>
                </a:extLst>
              </a:tr>
            </a:tbl>
          </a:graphicData>
        </a:graphic>
      </p:graphicFrame>
    </p:spTree>
    <p:extLst>
      <p:ext uri="{BB962C8B-B14F-4D97-AF65-F5344CB8AC3E}">
        <p14:creationId xmlns:p14="http://schemas.microsoft.com/office/powerpoint/2010/main" val="838037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F93DA-42BD-7761-A557-163A7725800C}"/>
              </a:ext>
            </a:extLst>
          </p:cNvPr>
          <p:cNvSpPr>
            <a:spLocks noGrp="1"/>
          </p:cNvSpPr>
          <p:nvPr>
            <p:ph type="title"/>
          </p:nvPr>
        </p:nvSpPr>
        <p:spPr>
          <a:xfrm>
            <a:off x="515112" y="649224"/>
            <a:ext cx="11155680" cy="1463040"/>
          </a:xfrm>
        </p:spPr>
        <p:txBody>
          <a:bodyPr>
            <a:normAutofit fontScale="90000"/>
          </a:bodyPr>
          <a:lstStyle/>
          <a:p>
            <a:r>
              <a:rPr lang="en-US" b="0" dirty="0">
                <a:latin typeface="Aptos Narrow" panose="020B0004020202020204" pitchFamily="34" charset="0"/>
              </a:rPr>
              <a:t>Introduction to AI, ML and its relationship with Data Science</a:t>
            </a:r>
            <a:br>
              <a:rPr lang="en-US" b="0" dirty="0">
                <a:latin typeface="Aptos Narrow" panose="020B0004020202020204" pitchFamily="34" charset="0"/>
              </a:rPr>
            </a:br>
            <a:endParaRPr lang="en-US" dirty="0"/>
          </a:p>
        </p:txBody>
      </p:sp>
      <p:sp>
        <p:nvSpPr>
          <p:cNvPr id="3" name="Content Placeholder 2">
            <a:extLst>
              <a:ext uri="{FF2B5EF4-FFF2-40B4-BE49-F238E27FC236}">
                <a16:creationId xmlns:a16="http://schemas.microsoft.com/office/drawing/2014/main" id="{69F122E0-D598-CAEC-7DA5-D765A1DEBDD8}"/>
              </a:ext>
            </a:extLst>
          </p:cNvPr>
          <p:cNvSpPr>
            <a:spLocks noGrp="1"/>
          </p:cNvSpPr>
          <p:nvPr>
            <p:ph idx="1"/>
          </p:nvPr>
        </p:nvSpPr>
        <p:spPr>
          <a:xfrm>
            <a:off x="658368" y="2112264"/>
            <a:ext cx="5574792" cy="3767328"/>
          </a:xfrm>
        </p:spPr>
        <p:txBody>
          <a:bodyPr>
            <a:normAutofit fontScale="92500"/>
          </a:bodyPr>
          <a:lstStyle/>
          <a:p>
            <a:pPr marL="0" indent="0" algn="just">
              <a:buNone/>
            </a:pPr>
            <a:r>
              <a:rPr lang="en-US" sz="3200" dirty="0"/>
              <a:t>Data Science is an interdisciplinary field leveraging AI and ML to extract insights from data, with ML providing the predictive tools and AI offering the autonomous decision-making capabilities. </a:t>
            </a:r>
          </a:p>
        </p:txBody>
      </p:sp>
      <p:pic>
        <p:nvPicPr>
          <p:cNvPr id="5" name="Picture 4">
            <a:extLst>
              <a:ext uri="{FF2B5EF4-FFF2-40B4-BE49-F238E27FC236}">
                <a16:creationId xmlns:a16="http://schemas.microsoft.com/office/drawing/2014/main" id="{99BD1B54-2C2A-4733-0CCA-C8ED3B8920DF}"/>
              </a:ext>
            </a:extLst>
          </p:cNvPr>
          <p:cNvPicPr>
            <a:picLocks noChangeAspect="1"/>
          </p:cNvPicPr>
          <p:nvPr/>
        </p:nvPicPr>
        <p:blipFill>
          <a:blip r:embed="rId2"/>
          <a:stretch>
            <a:fillRect/>
          </a:stretch>
        </p:blipFill>
        <p:spPr>
          <a:xfrm>
            <a:off x="6376416" y="1732788"/>
            <a:ext cx="5641967" cy="4146804"/>
          </a:xfrm>
          <a:prstGeom prst="rect">
            <a:avLst/>
          </a:prstGeom>
        </p:spPr>
      </p:pic>
    </p:spTree>
    <p:extLst>
      <p:ext uri="{BB962C8B-B14F-4D97-AF65-F5344CB8AC3E}">
        <p14:creationId xmlns:p14="http://schemas.microsoft.com/office/powerpoint/2010/main" val="3412541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4BD15-410A-2720-9436-6532B68F52B9}"/>
              </a:ext>
            </a:extLst>
          </p:cNvPr>
          <p:cNvSpPr>
            <a:spLocks noGrp="1"/>
          </p:cNvSpPr>
          <p:nvPr>
            <p:ph type="title"/>
          </p:nvPr>
        </p:nvSpPr>
        <p:spPr/>
        <p:txBody>
          <a:bodyPr/>
          <a:lstStyle/>
          <a:p>
            <a:r>
              <a:rPr lang="en-US" dirty="0"/>
              <a:t>Steps to Build a Machine Learning Model</a:t>
            </a:r>
          </a:p>
        </p:txBody>
      </p:sp>
      <p:pic>
        <p:nvPicPr>
          <p:cNvPr id="5" name="Picture 4">
            <a:extLst>
              <a:ext uri="{FF2B5EF4-FFF2-40B4-BE49-F238E27FC236}">
                <a16:creationId xmlns:a16="http://schemas.microsoft.com/office/drawing/2014/main" id="{BA5009A8-1ADF-12F8-E8B5-9BFBDABCE1FB}"/>
              </a:ext>
            </a:extLst>
          </p:cNvPr>
          <p:cNvPicPr>
            <a:picLocks noChangeAspect="1"/>
          </p:cNvPicPr>
          <p:nvPr/>
        </p:nvPicPr>
        <p:blipFill>
          <a:blip r:embed="rId2"/>
          <a:stretch>
            <a:fillRect/>
          </a:stretch>
        </p:blipFill>
        <p:spPr>
          <a:xfrm>
            <a:off x="0" y="2488739"/>
            <a:ext cx="12192000" cy="3390853"/>
          </a:xfrm>
          <a:prstGeom prst="rect">
            <a:avLst/>
          </a:prstGeom>
        </p:spPr>
      </p:pic>
    </p:spTree>
    <p:extLst>
      <p:ext uri="{BB962C8B-B14F-4D97-AF65-F5344CB8AC3E}">
        <p14:creationId xmlns:p14="http://schemas.microsoft.com/office/powerpoint/2010/main" val="334435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1C8A-50D4-E0AD-E272-CEFE9D56B46F}"/>
              </a:ext>
            </a:extLst>
          </p:cNvPr>
          <p:cNvSpPr>
            <a:spLocks noGrp="1"/>
          </p:cNvSpPr>
          <p:nvPr>
            <p:ph type="title"/>
          </p:nvPr>
        </p:nvSpPr>
        <p:spPr/>
        <p:txBody>
          <a:bodyPr/>
          <a:lstStyle/>
          <a:p>
            <a:r>
              <a:rPr lang="en-US" dirty="0"/>
              <a:t>Why Machine Learning is Important?</a:t>
            </a:r>
          </a:p>
        </p:txBody>
      </p:sp>
      <p:sp>
        <p:nvSpPr>
          <p:cNvPr id="3" name="Content Placeholder 2">
            <a:extLst>
              <a:ext uri="{FF2B5EF4-FFF2-40B4-BE49-F238E27FC236}">
                <a16:creationId xmlns:a16="http://schemas.microsoft.com/office/drawing/2014/main" id="{8AC50F9A-A594-B61E-074E-F6782C493210}"/>
              </a:ext>
            </a:extLst>
          </p:cNvPr>
          <p:cNvSpPr>
            <a:spLocks noGrp="1"/>
          </p:cNvSpPr>
          <p:nvPr>
            <p:ph idx="1"/>
          </p:nvPr>
        </p:nvSpPr>
        <p:spPr>
          <a:xfrm>
            <a:off x="521208" y="2171700"/>
            <a:ext cx="11155680" cy="4174236"/>
          </a:xfrm>
        </p:spPr>
        <p:txBody>
          <a:bodyPr>
            <a:normAutofit/>
          </a:bodyPr>
          <a:lstStyle/>
          <a:p>
            <a:pPr fontAlgn="base"/>
            <a:r>
              <a:rPr lang="en-US" sz="2400" b="1" dirty="0"/>
              <a:t>Automation:</a:t>
            </a:r>
            <a:r>
              <a:rPr lang="en-US" sz="2400" dirty="0"/>
              <a:t> Eliminates manual and repetitive tasks using intelligent systems.</a:t>
            </a:r>
          </a:p>
          <a:p>
            <a:pPr fontAlgn="base"/>
            <a:r>
              <a:rPr lang="en-US" sz="2400" b="1" dirty="0"/>
              <a:t>Prediction and Forecasting:</a:t>
            </a:r>
            <a:r>
              <a:rPr lang="en-US" sz="2400" dirty="0"/>
              <a:t> Enables accurate decision-making through data-driven predictions.</a:t>
            </a:r>
          </a:p>
          <a:p>
            <a:pPr fontAlgn="base"/>
            <a:r>
              <a:rPr lang="en-US" sz="2400" b="1" dirty="0"/>
              <a:t>Real time Insights:</a:t>
            </a:r>
            <a:r>
              <a:rPr lang="en-US" sz="2400" dirty="0"/>
              <a:t> Detects patterns instantly for use cases like fraud detection.</a:t>
            </a:r>
          </a:p>
          <a:p>
            <a:pPr fontAlgn="base"/>
            <a:r>
              <a:rPr lang="en-US" sz="2400" b="1" dirty="0"/>
              <a:t>Personalization: </a:t>
            </a:r>
            <a:r>
              <a:rPr lang="en-US" sz="2400" dirty="0"/>
              <a:t>Delivers user-specific recommendations by learning individual preferences.</a:t>
            </a:r>
          </a:p>
          <a:p>
            <a:pPr fontAlgn="base"/>
            <a:r>
              <a:rPr lang="en-US" sz="2400" b="1" dirty="0"/>
              <a:t>Efficiency and Optimization:</a:t>
            </a:r>
            <a:r>
              <a:rPr lang="en-US" sz="2400" dirty="0"/>
              <a:t> Enhances performance, reduces errors and lowers operational costs.</a:t>
            </a:r>
          </a:p>
          <a:p>
            <a:pPr marL="0" indent="0">
              <a:buNone/>
            </a:pPr>
            <a:endParaRPr lang="en-US" dirty="0"/>
          </a:p>
        </p:txBody>
      </p:sp>
    </p:spTree>
    <p:extLst>
      <p:ext uri="{BB962C8B-B14F-4D97-AF65-F5344CB8AC3E}">
        <p14:creationId xmlns:p14="http://schemas.microsoft.com/office/powerpoint/2010/main" val="3170045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F6581-8953-2E9F-844D-90AF6D5E57FD}"/>
              </a:ext>
            </a:extLst>
          </p:cNvPr>
          <p:cNvSpPr>
            <a:spLocks noGrp="1"/>
          </p:cNvSpPr>
          <p:nvPr>
            <p:ph type="title"/>
          </p:nvPr>
        </p:nvSpPr>
        <p:spPr>
          <a:xfrm>
            <a:off x="521208" y="761238"/>
            <a:ext cx="11155680" cy="1463040"/>
          </a:xfrm>
        </p:spPr>
        <p:txBody>
          <a:bodyPr/>
          <a:lstStyle/>
          <a:p>
            <a:r>
              <a:rPr lang="en-US" dirty="0"/>
              <a:t>How to Build a Machine Learning Model</a:t>
            </a:r>
          </a:p>
        </p:txBody>
      </p:sp>
      <p:sp>
        <p:nvSpPr>
          <p:cNvPr id="3" name="Content Placeholder 2">
            <a:extLst>
              <a:ext uri="{FF2B5EF4-FFF2-40B4-BE49-F238E27FC236}">
                <a16:creationId xmlns:a16="http://schemas.microsoft.com/office/drawing/2014/main" id="{5356005C-010C-738E-A4C7-FC4CDFB85B26}"/>
              </a:ext>
            </a:extLst>
          </p:cNvPr>
          <p:cNvSpPr>
            <a:spLocks noGrp="1"/>
          </p:cNvSpPr>
          <p:nvPr>
            <p:ph idx="1"/>
          </p:nvPr>
        </p:nvSpPr>
        <p:spPr>
          <a:xfrm>
            <a:off x="521208" y="1703070"/>
            <a:ext cx="11155680" cy="4812030"/>
          </a:xfrm>
        </p:spPr>
        <p:txBody>
          <a:bodyPr>
            <a:normAutofit fontScale="85000" lnSpcReduction="20000"/>
          </a:bodyPr>
          <a:lstStyle/>
          <a:p>
            <a:pPr marL="0" indent="0">
              <a:buNone/>
            </a:pPr>
            <a:r>
              <a:rPr lang="en-US" sz="2200" b="1" dirty="0"/>
              <a:t>1. Define the Problem</a:t>
            </a:r>
          </a:p>
          <a:p>
            <a:pPr marL="0" indent="0" fontAlgn="base">
              <a:buNone/>
            </a:pPr>
            <a:r>
              <a:rPr lang="en-US" sz="2200" b="1" dirty="0"/>
              <a:t>2. Collect Data </a:t>
            </a:r>
          </a:p>
          <a:p>
            <a:pPr marL="0" indent="0" fontAlgn="base">
              <a:buNone/>
            </a:pPr>
            <a:r>
              <a:rPr lang="en-US" sz="2200" b="1" dirty="0"/>
              <a:t>3. Data Cleaning and Preprocessing</a:t>
            </a:r>
          </a:p>
          <a:p>
            <a:pPr marL="0" indent="0" fontAlgn="base">
              <a:buNone/>
            </a:pPr>
            <a:r>
              <a:rPr lang="en-US" sz="2200" b="1" dirty="0"/>
              <a:t>4. Exploratory Data Analysis (EDA)</a:t>
            </a:r>
          </a:p>
          <a:p>
            <a:pPr marL="0" indent="0" fontAlgn="base">
              <a:buNone/>
            </a:pPr>
            <a:r>
              <a:rPr lang="en-US" sz="2200" b="1" dirty="0"/>
              <a:t>5. Feature Selection and Engineering</a:t>
            </a:r>
          </a:p>
          <a:p>
            <a:pPr marL="0" indent="0" fontAlgn="base">
              <a:buNone/>
            </a:pPr>
            <a:r>
              <a:rPr lang="en-US" sz="2200" b="1" dirty="0"/>
              <a:t>6. Split Data into Training and Testing Sets</a:t>
            </a:r>
          </a:p>
          <a:p>
            <a:pPr marL="0" indent="0" fontAlgn="base">
              <a:buNone/>
            </a:pPr>
            <a:r>
              <a:rPr lang="en-US" sz="2200" b="1" dirty="0"/>
              <a:t>7. Select a Machine Learning Algorithm</a:t>
            </a:r>
          </a:p>
          <a:p>
            <a:pPr marL="0" indent="0" fontAlgn="base">
              <a:buNone/>
            </a:pPr>
            <a:r>
              <a:rPr lang="en-US" sz="2200" b="1" dirty="0"/>
              <a:t>8. Train the Model</a:t>
            </a:r>
          </a:p>
          <a:p>
            <a:pPr marL="0" indent="0" fontAlgn="base">
              <a:buNone/>
            </a:pPr>
            <a:r>
              <a:rPr lang="en-US" sz="2200" b="1" dirty="0"/>
              <a:t>9. Evaluate Model Performance</a:t>
            </a:r>
          </a:p>
          <a:p>
            <a:pPr marL="0" indent="0" fontAlgn="base">
              <a:buNone/>
            </a:pPr>
            <a:r>
              <a:rPr lang="en-US" sz="2200" b="1" dirty="0"/>
              <a:t>10. Hyperparameter Tuning</a:t>
            </a:r>
          </a:p>
          <a:p>
            <a:pPr marL="0" indent="0" fontAlgn="base">
              <a:buNone/>
            </a:pPr>
            <a:r>
              <a:rPr lang="en-US" sz="2200" b="1" dirty="0"/>
              <a:t>11. Deploy the Model</a:t>
            </a:r>
          </a:p>
          <a:p>
            <a:pPr marL="0" indent="0" fontAlgn="base">
              <a:buNone/>
            </a:pPr>
            <a:r>
              <a:rPr lang="en-US" sz="2200" b="1" dirty="0"/>
              <a:t>12. Monitor and Maintain the Model</a:t>
            </a:r>
          </a:p>
          <a:p>
            <a:endParaRPr lang="en-US" dirty="0"/>
          </a:p>
        </p:txBody>
      </p:sp>
    </p:spTree>
    <p:extLst>
      <p:ext uri="{BB962C8B-B14F-4D97-AF65-F5344CB8AC3E}">
        <p14:creationId xmlns:p14="http://schemas.microsoft.com/office/powerpoint/2010/main" val="343857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B7EF6-8037-4953-FB7C-902BD8E2B8C1}"/>
              </a:ext>
            </a:extLst>
          </p:cNvPr>
          <p:cNvSpPr>
            <a:spLocks noGrp="1"/>
          </p:cNvSpPr>
          <p:nvPr>
            <p:ph type="title"/>
          </p:nvPr>
        </p:nvSpPr>
        <p:spPr/>
        <p:txBody>
          <a:bodyPr/>
          <a:lstStyle/>
          <a:p>
            <a:r>
              <a:rPr lang="en-US" dirty="0"/>
              <a:t>1. Define the Problem</a:t>
            </a:r>
          </a:p>
        </p:txBody>
      </p:sp>
      <p:sp>
        <p:nvSpPr>
          <p:cNvPr id="3" name="Content Placeholder 2">
            <a:extLst>
              <a:ext uri="{FF2B5EF4-FFF2-40B4-BE49-F238E27FC236}">
                <a16:creationId xmlns:a16="http://schemas.microsoft.com/office/drawing/2014/main" id="{17DF04C6-7477-993C-B273-B874162792F3}"/>
              </a:ext>
            </a:extLst>
          </p:cNvPr>
          <p:cNvSpPr>
            <a:spLocks noGrp="1"/>
          </p:cNvSpPr>
          <p:nvPr>
            <p:ph idx="1"/>
          </p:nvPr>
        </p:nvSpPr>
        <p:spPr>
          <a:xfrm>
            <a:off x="521208" y="2331720"/>
            <a:ext cx="11155680" cy="4014216"/>
          </a:xfrm>
        </p:spPr>
        <p:txBody>
          <a:bodyPr>
            <a:normAutofit/>
          </a:bodyPr>
          <a:lstStyle/>
          <a:p>
            <a:pPr marL="0" indent="0">
              <a:buNone/>
            </a:pPr>
            <a:r>
              <a:rPr lang="en-US" sz="2400" dirty="0"/>
              <a:t>Clearly understand what the model is supposed to predict or classify, ensuring the ML task matches the actual objective.</a:t>
            </a:r>
          </a:p>
          <a:p>
            <a:pPr fontAlgn="base"/>
            <a:r>
              <a:rPr lang="en-US" sz="2400" dirty="0"/>
              <a:t>Identify the business goal or research purpose behind building the model.</a:t>
            </a:r>
          </a:p>
          <a:p>
            <a:pPr fontAlgn="base"/>
            <a:r>
              <a:rPr lang="en-US" sz="2400" dirty="0"/>
              <a:t>Decide whether the task is regression, classification, clustering or forecasting.</a:t>
            </a:r>
          </a:p>
          <a:p>
            <a:pPr fontAlgn="base"/>
            <a:r>
              <a:rPr lang="en-US" sz="2400" dirty="0"/>
              <a:t>Determine the type of data required and the expected output format.</a:t>
            </a:r>
          </a:p>
          <a:p>
            <a:pPr marL="0" indent="0">
              <a:buNone/>
            </a:pPr>
            <a:endParaRPr lang="en-US" sz="2400" dirty="0"/>
          </a:p>
        </p:txBody>
      </p:sp>
    </p:spTree>
    <p:extLst>
      <p:ext uri="{BB962C8B-B14F-4D97-AF65-F5344CB8AC3E}">
        <p14:creationId xmlns:p14="http://schemas.microsoft.com/office/powerpoint/2010/main" val="1132525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35A13-77A9-0B61-2576-C32C0FADF32A}"/>
              </a:ext>
            </a:extLst>
          </p:cNvPr>
          <p:cNvSpPr>
            <a:spLocks noGrp="1"/>
          </p:cNvSpPr>
          <p:nvPr>
            <p:ph type="title"/>
          </p:nvPr>
        </p:nvSpPr>
        <p:spPr/>
        <p:txBody>
          <a:bodyPr/>
          <a:lstStyle/>
          <a:p>
            <a:r>
              <a:rPr lang="en-US" dirty="0"/>
              <a:t>2. Collect Data</a:t>
            </a:r>
            <a:br>
              <a:rPr lang="en-US" dirty="0"/>
            </a:br>
            <a:endParaRPr lang="en-US" dirty="0"/>
          </a:p>
        </p:txBody>
      </p:sp>
      <p:sp>
        <p:nvSpPr>
          <p:cNvPr id="3" name="Content Placeholder 2">
            <a:extLst>
              <a:ext uri="{FF2B5EF4-FFF2-40B4-BE49-F238E27FC236}">
                <a16:creationId xmlns:a16="http://schemas.microsoft.com/office/drawing/2014/main" id="{52CE3BC6-ECF9-7F66-A5CD-6AA453DC11A8}"/>
              </a:ext>
            </a:extLst>
          </p:cNvPr>
          <p:cNvSpPr>
            <a:spLocks noGrp="1"/>
          </p:cNvSpPr>
          <p:nvPr>
            <p:ph idx="1"/>
          </p:nvPr>
        </p:nvSpPr>
        <p:spPr>
          <a:xfrm>
            <a:off x="521208" y="2091690"/>
            <a:ext cx="11155680" cy="4254246"/>
          </a:xfrm>
        </p:spPr>
        <p:txBody>
          <a:bodyPr>
            <a:noAutofit/>
          </a:bodyPr>
          <a:lstStyle/>
          <a:p>
            <a:pPr marL="0" indent="0" fontAlgn="base">
              <a:buNone/>
            </a:pPr>
            <a:r>
              <a:rPr lang="en-US" sz="2400" dirty="0"/>
              <a:t>Collect all relevant and high quality data from reliable sources, as the dataset forms the foundation of any machine learning model.</a:t>
            </a:r>
          </a:p>
          <a:p>
            <a:pPr fontAlgn="base"/>
            <a:r>
              <a:rPr lang="en-US" sz="2400" dirty="0"/>
              <a:t>Gather data from databases, sensors, surveys, web APIs or public datasets like Kaggle and UCI.</a:t>
            </a:r>
          </a:p>
          <a:p>
            <a:pPr fontAlgn="base"/>
            <a:r>
              <a:rPr lang="en-US" sz="2400" dirty="0"/>
              <a:t>Ensure the dataset is large, clean and representative of the real problem.</a:t>
            </a:r>
          </a:p>
          <a:p>
            <a:pPr fontAlgn="base"/>
            <a:r>
              <a:rPr lang="en-US" sz="2400" dirty="0"/>
              <a:t>Combine data from multiple sources if needed to improve coverage and diversity.</a:t>
            </a:r>
          </a:p>
          <a:p>
            <a:pPr fontAlgn="base"/>
            <a:r>
              <a:rPr lang="en-US" sz="2400" dirty="0"/>
              <a:t>Check early for issues like missing values, noise and imbalance to avoid problems later.</a:t>
            </a:r>
          </a:p>
          <a:p>
            <a:endParaRPr lang="en-US" sz="2400" dirty="0"/>
          </a:p>
        </p:txBody>
      </p:sp>
    </p:spTree>
    <p:extLst>
      <p:ext uri="{BB962C8B-B14F-4D97-AF65-F5344CB8AC3E}">
        <p14:creationId xmlns:p14="http://schemas.microsoft.com/office/powerpoint/2010/main" val="2143123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B6D2-1C03-A4E7-0193-4D3C04EF8E25}"/>
              </a:ext>
            </a:extLst>
          </p:cNvPr>
          <p:cNvSpPr>
            <a:spLocks noGrp="1"/>
          </p:cNvSpPr>
          <p:nvPr>
            <p:ph type="title"/>
          </p:nvPr>
        </p:nvSpPr>
        <p:spPr/>
        <p:txBody>
          <a:bodyPr/>
          <a:lstStyle/>
          <a:p>
            <a:r>
              <a:rPr lang="en-US" dirty="0"/>
              <a:t>3. Data Cleaning and Preprocessing</a:t>
            </a:r>
            <a:br>
              <a:rPr lang="en-US" dirty="0"/>
            </a:br>
            <a:endParaRPr lang="en-US" dirty="0"/>
          </a:p>
        </p:txBody>
      </p:sp>
      <p:sp>
        <p:nvSpPr>
          <p:cNvPr id="3" name="Content Placeholder 2">
            <a:extLst>
              <a:ext uri="{FF2B5EF4-FFF2-40B4-BE49-F238E27FC236}">
                <a16:creationId xmlns:a16="http://schemas.microsoft.com/office/drawing/2014/main" id="{7045446F-3481-E91F-1873-B3E46AA4C5FB}"/>
              </a:ext>
            </a:extLst>
          </p:cNvPr>
          <p:cNvSpPr>
            <a:spLocks noGrp="1"/>
          </p:cNvSpPr>
          <p:nvPr>
            <p:ph idx="1"/>
          </p:nvPr>
        </p:nvSpPr>
        <p:spPr>
          <a:xfrm>
            <a:off x="521208" y="2171700"/>
            <a:ext cx="11155680" cy="4174236"/>
          </a:xfrm>
        </p:spPr>
        <p:txBody>
          <a:bodyPr/>
          <a:lstStyle/>
          <a:p>
            <a:pPr marL="0" indent="0" fontAlgn="base">
              <a:buNone/>
            </a:pPr>
            <a:r>
              <a:rPr lang="en-US" sz="2400" dirty="0"/>
              <a:t>Prepare the raw data for modeling by fixing errors, handling missing values and transforming it into a clean and usable form.</a:t>
            </a:r>
          </a:p>
          <a:p>
            <a:pPr fontAlgn="base"/>
            <a:r>
              <a:rPr lang="en-US" sz="2400" dirty="0"/>
              <a:t>Remove duplicates and correct inconsistent or incorrect entries.</a:t>
            </a:r>
          </a:p>
          <a:p>
            <a:pPr fontAlgn="base"/>
            <a:r>
              <a:rPr lang="en-US" sz="2400" dirty="0"/>
              <a:t>Handle missing values using imputation, deletion or interpolation techniques.</a:t>
            </a:r>
          </a:p>
          <a:p>
            <a:pPr fontAlgn="base"/>
            <a:r>
              <a:rPr lang="en-US" sz="2400" dirty="0"/>
              <a:t>Normalize or scale numerical features for stable and faster model training.</a:t>
            </a:r>
          </a:p>
          <a:p>
            <a:pPr fontAlgn="base"/>
            <a:r>
              <a:rPr lang="en-US" sz="2400" dirty="0"/>
              <a:t>Encode categorical variables using Label Encoding, One-Hot Encoding or Target Encoding.</a:t>
            </a:r>
          </a:p>
          <a:p>
            <a:endParaRPr lang="en-US" dirty="0"/>
          </a:p>
        </p:txBody>
      </p:sp>
    </p:spTree>
    <p:extLst>
      <p:ext uri="{BB962C8B-B14F-4D97-AF65-F5344CB8AC3E}">
        <p14:creationId xmlns:p14="http://schemas.microsoft.com/office/powerpoint/2010/main" val="3521036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FBC64-2819-0A21-0144-96815D920F56}"/>
              </a:ext>
            </a:extLst>
          </p:cNvPr>
          <p:cNvSpPr>
            <a:spLocks noGrp="1"/>
          </p:cNvSpPr>
          <p:nvPr>
            <p:ph type="title"/>
          </p:nvPr>
        </p:nvSpPr>
        <p:spPr/>
        <p:txBody>
          <a:bodyPr/>
          <a:lstStyle/>
          <a:p>
            <a:r>
              <a:rPr lang="en-US" dirty="0"/>
              <a:t>4. Exploratory Data Analysis (EDA)</a:t>
            </a:r>
            <a:br>
              <a:rPr lang="en-US" dirty="0"/>
            </a:br>
            <a:endParaRPr lang="en-US" dirty="0"/>
          </a:p>
        </p:txBody>
      </p:sp>
      <p:sp>
        <p:nvSpPr>
          <p:cNvPr id="3" name="Content Placeholder 2">
            <a:extLst>
              <a:ext uri="{FF2B5EF4-FFF2-40B4-BE49-F238E27FC236}">
                <a16:creationId xmlns:a16="http://schemas.microsoft.com/office/drawing/2014/main" id="{72A3026A-8213-6E27-FCD5-26E3F4F490C9}"/>
              </a:ext>
            </a:extLst>
          </p:cNvPr>
          <p:cNvSpPr>
            <a:spLocks noGrp="1"/>
          </p:cNvSpPr>
          <p:nvPr>
            <p:ph idx="1"/>
          </p:nvPr>
        </p:nvSpPr>
        <p:spPr>
          <a:xfrm>
            <a:off x="521208" y="2091690"/>
            <a:ext cx="11155680" cy="4254246"/>
          </a:xfrm>
        </p:spPr>
        <p:txBody>
          <a:bodyPr>
            <a:normAutofit/>
          </a:bodyPr>
          <a:lstStyle/>
          <a:p>
            <a:pPr marL="0" indent="0" fontAlgn="base">
              <a:buNone/>
            </a:pPr>
            <a:r>
              <a:rPr lang="en-US" sz="2400" dirty="0"/>
              <a:t>Analyze the dataset to understand patterns, distributions and relationships between features before building the model.</a:t>
            </a:r>
          </a:p>
          <a:p>
            <a:pPr fontAlgn="base"/>
            <a:r>
              <a:rPr lang="en-US" sz="2400" dirty="0"/>
              <a:t>Visualize data using graphs, charts, heatmaps and pair plots.</a:t>
            </a:r>
          </a:p>
          <a:p>
            <a:pPr fontAlgn="base"/>
            <a:r>
              <a:rPr lang="en-US" sz="2400" dirty="0"/>
              <a:t>Check statistical summaries to understand mean, variance, skewness and outliers.</a:t>
            </a:r>
          </a:p>
          <a:p>
            <a:pPr fontAlgn="base"/>
            <a:r>
              <a:rPr lang="en-US" sz="2400" dirty="0"/>
              <a:t>Study feature relationships and correlations to identify useful predictors.</a:t>
            </a:r>
          </a:p>
          <a:p>
            <a:pPr fontAlgn="base"/>
            <a:r>
              <a:rPr lang="en-US" sz="2400" dirty="0"/>
              <a:t>Detect anomalies, trends and hidden patterns that influence model design.</a:t>
            </a:r>
          </a:p>
          <a:p>
            <a:endParaRPr lang="en-US" sz="2400" dirty="0"/>
          </a:p>
        </p:txBody>
      </p:sp>
    </p:spTree>
    <p:extLst>
      <p:ext uri="{BB962C8B-B14F-4D97-AF65-F5344CB8AC3E}">
        <p14:creationId xmlns:p14="http://schemas.microsoft.com/office/powerpoint/2010/main" val="127311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9F28-F120-83E7-8B0C-054A68FBD9BC}"/>
              </a:ext>
            </a:extLst>
          </p:cNvPr>
          <p:cNvSpPr>
            <a:spLocks noGrp="1"/>
          </p:cNvSpPr>
          <p:nvPr>
            <p:ph type="title"/>
          </p:nvPr>
        </p:nvSpPr>
        <p:spPr/>
        <p:txBody>
          <a:bodyPr/>
          <a:lstStyle/>
          <a:p>
            <a:r>
              <a:rPr lang="en-US" dirty="0"/>
              <a:t>5. Feature Selection and Engineering</a:t>
            </a:r>
            <a:br>
              <a:rPr lang="en-US" dirty="0"/>
            </a:br>
            <a:endParaRPr lang="en-US" dirty="0"/>
          </a:p>
        </p:txBody>
      </p:sp>
      <p:sp>
        <p:nvSpPr>
          <p:cNvPr id="3" name="Content Placeholder 2">
            <a:extLst>
              <a:ext uri="{FF2B5EF4-FFF2-40B4-BE49-F238E27FC236}">
                <a16:creationId xmlns:a16="http://schemas.microsoft.com/office/drawing/2014/main" id="{93FBAEF8-CCFA-663E-0169-88F3F8B8E394}"/>
              </a:ext>
            </a:extLst>
          </p:cNvPr>
          <p:cNvSpPr>
            <a:spLocks noGrp="1"/>
          </p:cNvSpPr>
          <p:nvPr>
            <p:ph idx="1"/>
          </p:nvPr>
        </p:nvSpPr>
        <p:spPr/>
        <p:txBody>
          <a:bodyPr>
            <a:normAutofit/>
          </a:bodyPr>
          <a:lstStyle/>
          <a:p>
            <a:pPr marL="0" indent="0" fontAlgn="base">
              <a:buNone/>
            </a:pPr>
            <a:r>
              <a:rPr lang="en-US" sz="2400" dirty="0"/>
              <a:t>Select the most relevant features and create new meaningful ones to enhance model accuracy, reduce complexity and improve learning.</a:t>
            </a:r>
          </a:p>
          <a:p>
            <a:pPr fontAlgn="base"/>
            <a:r>
              <a:rPr lang="en-US" sz="2400" dirty="0"/>
              <a:t>Remove irrelevant, redundant or noisy features that harm performance.</a:t>
            </a:r>
          </a:p>
          <a:p>
            <a:pPr fontAlgn="base"/>
            <a:r>
              <a:rPr lang="en-US" sz="2400" dirty="0"/>
              <a:t>Use techniques like Correlation Analysis, Chi-square, ANOVA, PCA, Mutual Information.</a:t>
            </a:r>
          </a:p>
          <a:p>
            <a:pPr fontAlgn="base"/>
            <a:r>
              <a:rPr lang="en-US" sz="2400" dirty="0"/>
              <a:t>Good feature engineering often improves performance more than switching algorithms.</a:t>
            </a:r>
          </a:p>
          <a:p>
            <a:endParaRPr lang="en-US" sz="2400" dirty="0"/>
          </a:p>
        </p:txBody>
      </p:sp>
    </p:spTree>
    <p:extLst>
      <p:ext uri="{BB962C8B-B14F-4D97-AF65-F5344CB8AC3E}">
        <p14:creationId xmlns:p14="http://schemas.microsoft.com/office/powerpoint/2010/main" val="2196852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686E-60CC-CCB1-E36A-E65CBE496581}"/>
              </a:ext>
            </a:extLst>
          </p:cNvPr>
          <p:cNvSpPr>
            <a:spLocks noGrp="1"/>
          </p:cNvSpPr>
          <p:nvPr>
            <p:ph type="title"/>
          </p:nvPr>
        </p:nvSpPr>
        <p:spPr/>
        <p:txBody>
          <a:bodyPr/>
          <a:lstStyle/>
          <a:p>
            <a:r>
              <a:rPr lang="en-US" dirty="0"/>
              <a:t>6. Split Data into Training and Testing Sets</a:t>
            </a:r>
          </a:p>
        </p:txBody>
      </p:sp>
      <p:sp>
        <p:nvSpPr>
          <p:cNvPr id="3" name="Content Placeholder 2">
            <a:extLst>
              <a:ext uri="{FF2B5EF4-FFF2-40B4-BE49-F238E27FC236}">
                <a16:creationId xmlns:a16="http://schemas.microsoft.com/office/drawing/2014/main" id="{431B30C7-D69E-21FA-F53A-7C425D09BE8C}"/>
              </a:ext>
            </a:extLst>
          </p:cNvPr>
          <p:cNvSpPr>
            <a:spLocks noGrp="1"/>
          </p:cNvSpPr>
          <p:nvPr>
            <p:ph idx="1"/>
          </p:nvPr>
        </p:nvSpPr>
        <p:spPr/>
        <p:txBody>
          <a:bodyPr>
            <a:normAutofit/>
          </a:bodyPr>
          <a:lstStyle/>
          <a:p>
            <a:pPr marL="0" indent="0" fontAlgn="base">
              <a:buNone/>
            </a:pPr>
            <a:r>
              <a:rPr lang="en-US" sz="2400" dirty="0"/>
              <a:t>Divide the dataset so the model learns from one part and is evaluated fairly on unseen data.</a:t>
            </a:r>
          </a:p>
          <a:p>
            <a:pPr fontAlgn="base"/>
            <a:r>
              <a:rPr lang="en-US" sz="2400" dirty="0"/>
              <a:t>Ensures the model is evaluated on unseen data, preventing overfitting.</a:t>
            </a:r>
          </a:p>
          <a:p>
            <a:pPr fontAlgn="base"/>
            <a:r>
              <a:rPr lang="en-US" sz="2400" dirty="0"/>
              <a:t>Stratified splits are used for classification to maintain class balance.</a:t>
            </a:r>
          </a:p>
          <a:p>
            <a:pPr fontAlgn="base"/>
            <a:r>
              <a:rPr lang="en-US" sz="2400" dirty="0"/>
              <a:t>Optionally create a validation set or use cross validation for better tuning.</a:t>
            </a:r>
          </a:p>
          <a:p>
            <a:endParaRPr lang="en-US" sz="2400" dirty="0"/>
          </a:p>
        </p:txBody>
      </p:sp>
    </p:spTree>
    <p:extLst>
      <p:ext uri="{BB962C8B-B14F-4D97-AF65-F5344CB8AC3E}">
        <p14:creationId xmlns:p14="http://schemas.microsoft.com/office/powerpoint/2010/main" val="3751459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9EA92-D2E6-ECD0-DBA3-6711881E5EEF}"/>
              </a:ext>
            </a:extLst>
          </p:cNvPr>
          <p:cNvSpPr>
            <a:spLocks noGrp="1"/>
          </p:cNvSpPr>
          <p:nvPr>
            <p:ph type="title"/>
          </p:nvPr>
        </p:nvSpPr>
        <p:spPr/>
        <p:txBody>
          <a:bodyPr/>
          <a:lstStyle/>
          <a:p>
            <a:r>
              <a:rPr lang="en-US" dirty="0"/>
              <a:t>7. Select a Machine Learning Algorithm</a:t>
            </a:r>
            <a:br>
              <a:rPr lang="en-US" dirty="0"/>
            </a:br>
            <a:endParaRPr lang="en-US" dirty="0"/>
          </a:p>
        </p:txBody>
      </p:sp>
      <p:sp>
        <p:nvSpPr>
          <p:cNvPr id="3" name="Content Placeholder 2">
            <a:extLst>
              <a:ext uri="{FF2B5EF4-FFF2-40B4-BE49-F238E27FC236}">
                <a16:creationId xmlns:a16="http://schemas.microsoft.com/office/drawing/2014/main" id="{6449B7D6-3905-3CEF-4509-9BFF8540905D}"/>
              </a:ext>
            </a:extLst>
          </p:cNvPr>
          <p:cNvSpPr>
            <a:spLocks noGrp="1"/>
          </p:cNvSpPr>
          <p:nvPr>
            <p:ph idx="1"/>
          </p:nvPr>
        </p:nvSpPr>
        <p:spPr>
          <a:xfrm>
            <a:off x="521208" y="2137410"/>
            <a:ext cx="11155680" cy="4208526"/>
          </a:xfrm>
        </p:spPr>
        <p:txBody>
          <a:bodyPr>
            <a:normAutofit/>
          </a:bodyPr>
          <a:lstStyle/>
          <a:p>
            <a:pPr marL="0" indent="0" fontAlgn="base">
              <a:buNone/>
            </a:pPr>
            <a:r>
              <a:rPr lang="en-US" sz="2400" dirty="0"/>
              <a:t>Choose the most suitable algorithm based on the problem type, data characteristics, and performance requirements.</a:t>
            </a:r>
          </a:p>
          <a:p>
            <a:pPr fontAlgn="base"/>
            <a:r>
              <a:rPr lang="en-US" sz="2400" dirty="0"/>
              <a:t>Pick algorithms depending on the task like Linear Regression, Random Forest, SVM, KNN, Neural Networks.</a:t>
            </a:r>
          </a:p>
          <a:p>
            <a:pPr fontAlgn="base"/>
            <a:r>
              <a:rPr lang="en-US" sz="2400" dirty="0"/>
              <a:t>Consider factors like speed, accuracy, interpretability, scalability and dataset size.</a:t>
            </a:r>
          </a:p>
          <a:p>
            <a:pPr fontAlgn="base"/>
            <a:r>
              <a:rPr lang="en-US" sz="2400" dirty="0"/>
              <a:t>For smaller datasets, simpler models often perform better large datasets may benefit from deep learning</a:t>
            </a:r>
          </a:p>
          <a:p>
            <a:endParaRPr lang="en-US" sz="2400" dirty="0"/>
          </a:p>
        </p:txBody>
      </p:sp>
    </p:spTree>
    <p:extLst>
      <p:ext uri="{BB962C8B-B14F-4D97-AF65-F5344CB8AC3E}">
        <p14:creationId xmlns:p14="http://schemas.microsoft.com/office/powerpoint/2010/main" val="264042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BDF9B-F55A-7BF7-00D8-3813E4501F7E}"/>
              </a:ext>
            </a:extLst>
          </p:cNvPr>
          <p:cNvSpPr>
            <a:spLocks noGrp="1"/>
          </p:cNvSpPr>
          <p:nvPr>
            <p:ph type="title"/>
          </p:nvPr>
        </p:nvSpPr>
        <p:spPr/>
        <p:txBody>
          <a:bodyPr/>
          <a:lstStyle/>
          <a:p>
            <a:r>
              <a:rPr lang="en-US" dirty="0"/>
              <a:t>8. Train the Model</a:t>
            </a:r>
            <a:br>
              <a:rPr lang="en-US" dirty="0"/>
            </a:br>
            <a:endParaRPr lang="en-US" dirty="0"/>
          </a:p>
        </p:txBody>
      </p:sp>
      <p:sp>
        <p:nvSpPr>
          <p:cNvPr id="3" name="Content Placeholder 2">
            <a:extLst>
              <a:ext uri="{FF2B5EF4-FFF2-40B4-BE49-F238E27FC236}">
                <a16:creationId xmlns:a16="http://schemas.microsoft.com/office/drawing/2014/main" id="{C3628DB4-DD67-DA30-B09B-FF0F7DA0B1A0}"/>
              </a:ext>
            </a:extLst>
          </p:cNvPr>
          <p:cNvSpPr>
            <a:spLocks noGrp="1"/>
          </p:cNvSpPr>
          <p:nvPr>
            <p:ph idx="1"/>
          </p:nvPr>
        </p:nvSpPr>
        <p:spPr/>
        <p:txBody>
          <a:bodyPr>
            <a:normAutofit/>
          </a:bodyPr>
          <a:lstStyle/>
          <a:p>
            <a:pPr marL="0" indent="0" fontAlgn="base">
              <a:buNone/>
            </a:pPr>
            <a:r>
              <a:rPr lang="en-US" sz="2400" dirty="0"/>
              <a:t>Train the selected algorithm on the prepared training data so it can learn patterns, relationships and decision boundaries</a:t>
            </a:r>
          </a:p>
          <a:p>
            <a:pPr fontAlgn="base"/>
            <a:r>
              <a:rPr lang="en-US" sz="2400" dirty="0"/>
              <a:t>Adjust model parameters iteratively to minimize loss.</a:t>
            </a:r>
          </a:p>
          <a:p>
            <a:pPr fontAlgn="base"/>
            <a:r>
              <a:rPr lang="en-US" sz="2400" dirty="0"/>
              <a:t>Monitor learning curves to track training progress and detect issues early.</a:t>
            </a:r>
          </a:p>
          <a:p>
            <a:pPr fontAlgn="base"/>
            <a:r>
              <a:rPr lang="en-US" sz="2400" dirty="0"/>
              <a:t>Ensure the model converges properly and is not overfitting or diverging.</a:t>
            </a:r>
          </a:p>
          <a:p>
            <a:endParaRPr lang="en-US" sz="2400" dirty="0"/>
          </a:p>
        </p:txBody>
      </p:sp>
    </p:spTree>
    <p:extLst>
      <p:ext uri="{BB962C8B-B14F-4D97-AF65-F5344CB8AC3E}">
        <p14:creationId xmlns:p14="http://schemas.microsoft.com/office/powerpoint/2010/main" val="14523122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270D4-679E-6CA6-84C5-36D99B744755}"/>
              </a:ext>
            </a:extLst>
          </p:cNvPr>
          <p:cNvSpPr>
            <a:spLocks noGrp="1"/>
          </p:cNvSpPr>
          <p:nvPr>
            <p:ph type="title"/>
          </p:nvPr>
        </p:nvSpPr>
        <p:spPr/>
        <p:txBody>
          <a:bodyPr/>
          <a:lstStyle/>
          <a:p>
            <a:r>
              <a:rPr lang="en-US" dirty="0"/>
              <a:t>9. Evaluate Model Performance</a:t>
            </a:r>
            <a:br>
              <a:rPr lang="en-US" dirty="0"/>
            </a:br>
            <a:endParaRPr lang="en-US" dirty="0"/>
          </a:p>
        </p:txBody>
      </p:sp>
      <p:sp>
        <p:nvSpPr>
          <p:cNvPr id="3" name="Content Placeholder 2">
            <a:extLst>
              <a:ext uri="{FF2B5EF4-FFF2-40B4-BE49-F238E27FC236}">
                <a16:creationId xmlns:a16="http://schemas.microsoft.com/office/drawing/2014/main" id="{5B22B3CE-5E52-3615-0E0E-120B8C5FB298}"/>
              </a:ext>
            </a:extLst>
          </p:cNvPr>
          <p:cNvSpPr>
            <a:spLocks noGrp="1"/>
          </p:cNvSpPr>
          <p:nvPr>
            <p:ph idx="1"/>
          </p:nvPr>
        </p:nvSpPr>
        <p:spPr/>
        <p:txBody>
          <a:bodyPr>
            <a:normAutofit/>
          </a:bodyPr>
          <a:lstStyle/>
          <a:p>
            <a:pPr marL="0" indent="0" fontAlgn="base">
              <a:buNone/>
            </a:pPr>
            <a:r>
              <a:rPr lang="en-US" sz="2400" dirty="0"/>
              <a:t>Test the trained model on unseen data to measure how well it generalizes and how reliable its predictions are.</a:t>
            </a:r>
          </a:p>
          <a:p>
            <a:pPr fontAlgn="base"/>
            <a:r>
              <a:rPr lang="en-US" sz="2400" dirty="0"/>
              <a:t>Use metrics like Accuracy, Precision, Recall, F1-score, RMSE, MAE, R² depending on task type.</a:t>
            </a:r>
          </a:p>
          <a:p>
            <a:pPr fontAlgn="base"/>
            <a:r>
              <a:rPr lang="en-US" sz="2400" dirty="0"/>
              <a:t>Compare training vs testing results to detect overfitting or underfitting.</a:t>
            </a:r>
          </a:p>
          <a:p>
            <a:pPr fontAlgn="base"/>
            <a:r>
              <a:rPr lang="en-US" sz="2400" dirty="0"/>
              <a:t>Use confusion matrices, ROC curves and error analysis for deeper evaluation.</a:t>
            </a:r>
          </a:p>
          <a:p>
            <a:endParaRPr lang="en-US" sz="2400" dirty="0"/>
          </a:p>
        </p:txBody>
      </p:sp>
    </p:spTree>
    <p:extLst>
      <p:ext uri="{BB962C8B-B14F-4D97-AF65-F5344CB8AC3E}">
        <p14:creationId xmlns:p14="http://schemas.microsoft.com/office/powerpoint/2010/main" val="18834469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632BA-72F1-EE18-2366-7228A2D382D9}"/>
              </a:ext>
            </a:extLst>
          </p:cNvPr>
          <p:cNvSpPr>
            <a:spLocks noGrp="1"/>
          </p:cNvSpPr>
          <p:nvPr>
            <p:ph type="title"/>
          </p:nvPr>
        </p:nvSpPr>
        <p:spPr/>
        <p:txBody>
          <a:bodyPr/>
          <a:lstStyle/>
          <a:p>
            <a:r>
              <a:rPr lang="en-US" dirty="0"/>
              <a:t>10. Hyperparameter Tuning</a:t>
            </a:r>
            <a:br>
              <a:rPr lang="en-US" dirty="0"/>
            </a:br>
            <a:endParaRPr lang="en-US" dirty="0"/>
          </a:p>
        </p:txBody>
      </p:sp>
      <p:sp>
        <p:nvSpPr>
          <p:cNvPr id="3" name="Content Placeholder 2">
            <a:extLst>
              <a:ext uri="{FF2B5EF4-FFF2-40B4-BE49-F238E27FC236}">
                <a16:creationId xmlns:a16="http://schemas.microsoft.com/office/drawing/2014/main" id="{DB48F0A9-6B31-FD26-20AE-CD76BEA2815C}"/>
              </a:ext>
            </a:extLst>
          </p:cNvPr>
          <p:cNvSpPr>
            <a:spLocks noGrp="1"/>
          </p:cNvSpPr>
          <p:nvPr>
            <p:ph idx="1"/>
          </p:nvPr>
        </p:nvSpPr>
        <p:spPr/>
        <p:txBody>
          <a:bodyPr>
            <a:normAutofit/>
          </a:bodyPr>
          <a:lstStyle/>
          <a:p>
            <a:pPr marL="0" indent="0" fontAlgn="base">
              <a:buNone/>
            </a:pPr>
            <a:r>
              <a:rPr lang="en-US" sz="2400" dirty="0"/>
              <a:t>Optimize the model’s hyperparameters to achieve higher accuracy, stability and better generalization.</a:t>
            </a:r>
          </a:p>
          <a:p>
            <a:pPr fontAlgn="base"/>
            <a:r>
              <a:rPr lang="en-US" sz="2400" dirty="0"/>
              <a:t>Use Grid Search, Random Search, Bayesian Optimization or cross-validation techniques.</a:t>
            </a:r>
          </a:p>
          <a:p>
            <a:pPr fontAlgn="base"/>
            <a:r>
              <a:rPr lang="en-US" sz="2400" dirty="0"/>
              <a:t>Adjust settings like learning rate, depth, number of trees, batch size, etc.</a:t>
            </a:r>
          </a:p>
          <a:p>
            <a:pPr fontAlgn="base"/>
            <a:r>
              <a:rPr lang="en-US" sz="2400" dirty="0"/>
              <a:t>Aim to balance model complexity vs performance to avoid overfitting.</a:t>
            </a:r>
          </a:p>
          <a:p>
            <a:endParaRPr lang="en-US" sz="2400" dirty="0"/>
          </a:p>
        </p:txBody>
      </p:sp>
    </p:spTree>
    <p:extLst>
      <p:ext uri="{BB962C8B-B14F-4D97-AF65-F5344CB8AC3E}">
        <p14:creationId xmlns:p14="http://schemas.microsoft.com/office/powerpoint/2010/main" val="3710839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B4D74-BCFA-ED63-8B76-3FDD62F50FBB}"/>
              </a:ext>
            </a:extLst>
          </p:cNvPr>
          <p:cNvSpPr>
            <a:spLocks noGrp="1"/>
          </p:cNvSpPr>
          <p:nvPr>
            <p:ph type="title"/>
          </p:nvPr>
        </p:nvSpPr>
        <p:spPr/>
        <p:txBody>
          <a:bodyPr/>
          <a:lstStyle/>
          <a:p>
            <a:r>
              <a:rPr lang="en-US" dirty="0"/>
              <a:t>11. Deploy the Model</a:t>
            </a:r>
            <a:br>
              <a:rPr lang="en-US" dirty="0"/>
            </a:br>
            <a:endParaRPr lang="en-US" dirty="0"/>
          </a:p>
        </p:txBody>
      </p:sp>
      <p:sp>
        <p:nvSpPr>
          <p:cNvPr id="3" name="Content Placeholder 2">
            <a:extLst>
              <a:ext uri="{FF2B5EF4-FFF2-40B4-BE49-F238E27FC236}">
                <a16:creationId xmlns:a16="http://schemas.microsoft.com/office/drawing/2014/main" id="{D6B85DC5-5202-1C2F-CD57-07853117909C}"/>
              </a:ext>
            </a:extLst>
          </p:cNvPr>
          <p:cNvSpPr>
            <a:spLocks noGrp="1"/>
          </p:cNvSpPr>
          <p:nvPr>
            <p:ph idx="1"/>
          </p:nvPr>
        </p:nvSpPr>
        <p:spPr/>
        <p:txBody>
          <a:bodyPr>
            <a:normAutofit/>
          </a:bodyPr>
          <a:lstStyle/>
          <a:p>
            <a:pPr marL="0" indent="0" fontAlgn="base">
              <a:buNone/>
            </a:pPr>
            <a:r>
              <a:rPr lang="en-US" sz="2400" dirty="0"/>
              <a:t>Make the trained model available for real-world use by integrating it into applications, systems or services.</a:t>
            </a:r>
          </a:p>
          <a:p>
            <a:pPr fontAlgn="base"/>
            <a:r>
              <a:rPr lang="en-US" sz="2400" dirty="0"/>
              <a:t>Deploy on cloud platforms or mobile systems.</a:t>
            </a:r>
          </a:p>
          <a:p>
            <a:pPr fontAlgn="base"/>
            <a:r>
              <a:rPr lang="en-US" sz="2400" dirty="0"/>
              <a:t>Set up APIs, model servers or pipelines using Flask, </a:t>
            </a:r>
            <a:r>
              <a:rPr lang="en-US" sz="2400" dirty="0" err="1"/>
              <a:t>FastAPI</a:t>
            </a:r>
            <a:r>
              <a:rPr lang="en-US" sz="2400" dirty="0"/>
              <a:t>, TensorFlow Serving or Docker.</a:t>
            </a:r>
          </a:p>
          <a:p>
            <a:pPr fontAlgn="base"/>
            <a:r>
              <a:rPr lang="en-US" sz="2400" dirty="0"/>
              <a:t>Monitor model performance in production to detect drift or degradation.</a:t>
            </a:r>
          </a:p>
          <a:p>
            <a:endParaRPr lang="en-US" sz="2400" dirty="0"/>
          </a:p>
        </p:txBody>
      </p:sp>
    </p:spTree>
    <p:extLst>
      <p:ext uri="{BB962C8B-B14F-4D97-AF65-F5344CB8AC3E}">
        <p14:creationId xmlns:p14="http://schemas.microsoft.com/office/powerpoint/2010/main" val="4134690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6EAD-E936-340E-DB57-ABE55181E687}"/>
              </a:ext>
            </a:extLst>
          </p:cNvPr>
          <p:cNvSpPr>
            <a:spLocks noGrp="1"/>
          </p:cNvSpPr>
          <p:nvPr>
            <p:ph type="title"/>
          </p:nvPr>
        </p:nvSpPr>
        <p:spPr/>
        <p:txBody>
          <a:bodyPr/>
          <a:lstStyle/>
          <a:p>
            <a:r>
              <a:rPr lang="en-US" dirty="0"/>
              <a:t>12. Monitor and Maintain the Model</a:t>
            </a:r>
            <a:br>
              <a:rPr lang="en-US" dirty="0"/>
            </a:br>
            <a:endParaRPr lang="en-US" dirty="0"/>
          </a:p>
        </p:txBody>
      </p:sp>
      <p:sp>
        <p:nvSpPr>
          <p:cNvPr id="3" name="Content Placeholder 2">
            <a:extLst>
              <a:ext uri="{FF2B5EF4-FFF2-40B4-BE49-F238E27FC236}">
                <a16:creationId xmlns:a16="http://schemas.microsoft.com/office/drawing/2014/main" id="{20E99D61-B7F3-B372-997E-5507CAE4F59C}"/>
              </a:ext>
            </a:extLst>
          </p:cNvPr>
          <p:cNvSpPr>
            <a:spLocks noGrp="1"/>
          </p:cNvSpPr>
          <p:nvPr>
            <p:ph idx="1"/>
          </p:nvPr>
        </p:nvSpPr>
        <p:spPr>
          <a:xfrm>
            <a:off x="521208" y="2183130"/>
            <a:ext cx="11155680" cy="4162806"/>
          </a:xfrm>
        </p:spPr>
        <p:txBody>
          <a:bodyPr>
            <a:normAutofit/>
          </a:bodyPr>
          <a:lstStyle/>
          <a:p>
            <a:pPr marL="0" indent="0" fontAlgn="base">
              <a:buNone/>
            </a:pPr>
            <a:r>
              <a:rPr lang="en-US" sz="2400" dirty="0"/>
              <a:t>Continuously track the model’s performance in production and update it when real-world data or patterns start to change.</a:t>
            </a:r>
          </a:p>
          <a:p>
            <a:pPr fontAlgn="base"/>
            <a:r>
              <a:rPr lang="en-US" sz="2400" dirty="0"/>
              <a:t>Retrain the model with new or updated data whenever accuracy declines.</a:t>
            </a:r>
          </a:p>
          <a:p>
            <a:pPr fontAlgn="base"/>
            <a:r>
              <a:rPr lang="en-US" sz="2400" dirty="0"/>
              <a:t>Detect data drift, concept drift or model degradation using monitoring tools.</a:t>
            </a:r>
          </a:p>
          <a:p>
            <a:pPr fontAlgn="base"/>
            <a:r>
              <a:rPr lang="en-US" sz="2400" dirty="0"/>
              <a:t>Log predictions, errors and feedback to identify issues early.</a:t>
            </a:r>
          </a:p>
          <a:p>
            <a:pPr fontAlgn="base"/>
            <a:r>
              <a:rPr lang="en-US" sz="2400" dirty="0"/>
              <a:t>Regular maintenance ensures the model remains reliable, accurate and relevant over time.</a:t>
            </a:r>
          </a:p>
          <a:p>
            <a:endParaRPr lang="en-US" sz="2400" dirty="0"/>
          </a:p>
        </p:txBody>
      </p:sp>
    </p:spTree>
    <p:extLst>
      <p:ext uri="{BB962C8B-B14F-4D97-AF65-F5344CB8AC3E}">
        <p14:creationId xmlns:p14="http://schemas.microsoft.com/office/powerpoint/2010/main" val="1374490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573D70-C8E0-4524-3F5D-60795B50DBE0}"/>
              </a:ext>
            </a:extLst>
          </p:cNvPr>
          <p:cNvPicPr>
            <a:picLocks noChangeAspect="1"/>
          </p:cNvPicPr>
          <p:nvPr/>
        </p:nvPicPr>
        <p:blipFill>
          <a:blip r:embed="rId2"/>
          <a:stretch>
            <a:fillRect/>
          </a:stretch>
        </p:blipFill>
        <p:spPr>
          <a:xfrm>
            <a:off x="379390" y="373055"/>
            <a:ext cx="11683282" cy="5764855"/>
          </a:xfrm>
          <a:prstGeom prst="rect">
            <a:avLst/>
          </a:prstGeom>
        </p:spPr>
      </p:pic>
    </p:spTree>
    <p:extLst>
      <p:ext uri="{BB962C8B-B14F-4D97-AF65-F5344CB8AC3E}">
        <p14:creationId xmlns:p14="http://schemas.microsoft.com/office/powerpoint/2010/main" val="3540428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6B74-118E-6347-FF61-51E8671B7909}"/>
              </a:ext>
            </a:extLst>
          </p:cNvPr>
          <p:cNvSpPr>
            <a:spLocks noGrp="1"/>
          </p:cNvSpPr>
          <p:nvPr>
            <p:ph type="title"/>
          </p:nvPr>
        </p:nvSpPr>
        <p:spPr>
          <a:xfrm>
            <a:off x="518160" y="704088"/>
            <a:ext cx="11155680" cy="827532"/>
          </a:xfrm>
        </p:spPr>
        <p:txBody>
          <a:bodyPr>
            <a:normAutofit fontScale="90000"/>
          </a:bodyPr>
          <a:lstStyle/>
          <a:p>
            <a:r>
              <a:rPr lang="en-US" dirty="0"/>
              <a:t>Common Terms Used in Machine Learning</a:t>
            </a:r>
            <a:br>
              <a:rPr lang="en-US" dirty="0"/>
            </a:br>
            <a:endParaRPr lang="en-US" dirty="0"/>
          </a:p>
        </p:txBody>
      </p:sp>
      <p:sp>
        <p:nvSpPr>
          <p:cNvPr id="3" name="Content Placeholder 2">
            <a:extLst>
              <a:ext uri="{FF2B5EF4-FFF2-40B4-BE49-F238E27FC236}">
                <a16:creationId xmlns:a16="http://schemas.microsoft.com/office/drawing/2014/main" id="{9FF69B5E-8C87-CCE6-085E-AA1AEB51AFCF}"/>
              </a:ext>
            </a:extLst>
          </p:cNvPr>
          <p:cNvSpPr>
            <a:spLocks noGrp="1"/>
          </p:cNvSpPr>
          <p:nvPr>
            <p:ph idx="1"/>
          </p:nvPr>
        </p:nvSpPr>
        <p:spPr>
          <a:xfrm>
            <a:off x="521208" y="1337310"/>
            <a:ext cx="11155680" cy="5429250"/>
          </a:xfrm>
        </p:spPr>
        <p:txBody>
          <a:bodyPr>
            <a:normAutofit fontScale="85000" lnSpcReduction="20000"/>
          </a:bodyPr>
          <a:lstStyle/>
          <a:p>
            <a:pPr fontAlgn="base"/>
            <a:r>
              <a:rPr lang="en-US" b="1" dirty="0"/>
              <a:t>Features:</a:t>
            </a:r>
            <a:r>
              <a:rPr lang="en-US" dirty="0"/>
              <a:t> Input variables or attributes used by the model to make predictions can be numerical, categorical </a:t>
            </a:r>
          </a:p>
          <a:p>
            <a:pPr fontAlgn="base"/>
            <a:r>
              <a:rPr lang="en-US" b="1" dirty="0"/>
              <a:t>Labels: </a:t>
            </a:r>
            <a:r>
              <a:rPr lang="en-US" dirty="0"/>
              <a:t>The target variable that the model tries to predict during supervised learning.</a:t>
            </a:r>
          </a:p>
          <a:p>
            <a:pPr fontAlgn="base"/>
            <a:r>
              <a:rPr lang="en-US" b="1" dirty="0"/>
              <a:t>Training Set: </a:t>
            </a:r>
            <a:r>
              <a:rPr lang="en-US" dirty="0"/>
              <a:t>Dataset used to teach the model patterns and relationships between features and labels.</a:t>
            </a:r>
          </a:p>
          <a:p>
            <a:pPr fontAlgn="base"/>
            <a:r>
              <a:rPr lang="en-US" b="1" dirty="0"/>
              <a:t>Validation Set: </a:t>
            </a:r>
            <a:r>
              <a:rPr lang="en-US" dirty="0"/>
              <a:t>A separate dataset used for tuning hyperparameters and preventing overfitting during model development.</a:t>
            </a:r>
          </a:p>
          <a:p>
            <a:pPr fontAlgn="base"/>
            <a:r>
              <a:rPr lang="en-US" b="1" dirty="0"/>
              <a:t>Test Set: </a:t>
            </a:r>
            <a:r>
              <a:rPr lang="en-US" dirty="0"/>
              <a:t>Final dataset used to check how well the trained model generalizes to unseen data.</a:t>
            </a:r>
          </a:p>
          <a:p>
            <a:pPr fontAlgn="base"/>
            <a:r>
              <a:rPr lang="en-US" b="1" dirty="0"/>
              <a:t>Overfitting:</a:t>
            </a:r>
            <a:r>
              <a:rPr lang="en-US" dirty="0"/>
              <a:t> A condition where the model memorizes training data but fails on new data hence solved using regularization, dropout and cross-validation.</a:t>
            </a:r>
          </a:p>
          <a:p>
            <a:pPr fontAlgn="base"/>
            <a:r>
              <a:rPr lang="en-US" b="1" dirty="0"/>
              <a:t>Underfitting:</a:t>
            </a:r>
            <a:r>
              <a:rPr lang="en-US" dirty="0"/>
              <a:t> Occurs when the model is too simple to learn underlying patterns, resulting in poor performance on both training and test data.</a:t>
            </a:r>
          </a:p>
          <a:p>
            <a:pPr fontAlgn="base"/>
            <a:r>
              <a:rPr lang="en-US" b="1" dirty="0"/>
              <a:t>EDA (Exploratory Data Analysis):</a:t>
            </a:r>
            <a:r>
              <a:rPr lang="en-US" dirty="0"/>
              <a:t> Process of visualizing, summarizing and understanding data distributions, outliers and relationships before modeling.</a:t>
            </a:r>
          </a:p>
          <a:p>
            <a:pPr fontAlgn="base"/>
            <a:r>
              <a:rPr lang="en-US" b="1" dirty="0"/>
              <a:t>Hyperparameters: </a:t>
            </a:r>
            <a:r>
              <a:rPr lang="en-US" dirty="0"/>
              <a:t>Model settings defined before training like learning rate, number of trees, batch size, </a:t>
            </a:r>
            <a:r>
              <a:rPr lang="en-US" dirty="0" err="1"/>
              <a:t>etc</a:t>
            </a:r>
            <a:r>
              <a:rPr lang="en-US" dirty="0"/>
              <a:t> that significantly affect model performance.</a:t>
            </a:r>
          </a:p>
          <a:p>
            <a:pPr fontAlgn="base"/>
            <a:r>
              <a:rPr lang="en-US" b="1" dirty="0"/>
              <a:t>Cross-Validation: </a:t>
            </a:r>
            <a:r>
              <a:rPr lang="en-US" dirty="0"/>
              <a:t>Technique to evaluate model performance by splitting data into multiple folds, ensuring stable and reliable accuracy.</a:t>
            </a:r>
          </a:p>
          <a:p>
            <a:pPr fontAlgn="base"/>
            <a:r>
              <a:rPr lang="en-US" b="1" dirty="0"/>
              <a:t>Feature Engineering: </a:t>
            </a:r>
            <a:r>
              <a:rPr lang="en-US" dirty="0"/>
              <a:t>Process of creating, transforming or selecting meaningful features to improve model learning and accuracy.</a:t>
            </a:r>
          </a:p>
          <a:p>
            <a:pPr fontAlgn="base"/>
            <a:r>
              <a:rPr lang="en-US" b="1" dirty="0"/>
              <a:t>Model Deployment: </a:t>
            </a:r>
            <a:r>
              <a:rPr lang="en-US" dirty="0"/>
              <a:t>Making a trained model usable in real applications through APIs, cloud platforms or integration into software systems.</a:t>
            </a:r>
          </a:p>
        </p:txBody>
      </p:sp>
    </p:spTree>
    <p:extLst>
      <p:ext uri="{BB962C8B-B14F-4D97-AF65-F5344CB8AC3E}">
        <p14:creationId xmlns:p14="http://schemas.microsoft.com/office/powerpoint/2010/main" val="1902649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B0B0409-0881-6A8E-E0C5-EA6BBDEEE796}"/>
              </a:ext>
            </a:extLst>
          </p:cNvPr>
          <p:cNvSpPr>
            <a:spLocks noGrp="1" noChangeArrowheads="1"/>
          </p:cNvSpPr>
          <p:nvPr>
            <p:ph type="title"/>
          </p:nvPr>
        </p:nvSpPr>
        <p:spPr bwMode="auto">
          <a:xfrm>
            <a:off x="521208" y="909418"/>
            <a:ext cx="10748772"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800" b="1" i="0" u="none" strike="noStrike" cap="none" normalizeH="0" baseline="0" dirty="0">
                <a:ln>
                  <a:noFill/>
                </a:ln>
                <a:solidFill>
                  <a:srgbClr val="001D35"/>
                </a:solidFill>
                <a:effectLst/>
                <a:latin typeface="Google Sans"/>
              </a:rPr>
              <a:t>Types of Data in ML Project- by structure</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7AEEB69F-CE17-486D-BBED-AE77B0BB63E5}"/>
              </a:ext>
            </a:extLst>
          </p:cNvPr>
          <p:cNvSpPr>
            <a:spLocks noGrp="1" noChangeArrowheads="1"/>
          </p:cNvSpPr>
          <p:nvPr>
            <p:ph idx="1"/>
          </p:nvPr>
        </p:nvSpPr>
        <p:spPr bwMode="auto">
          <a:xfrm>
            <a:off x="465261" y="2033904"/>
            <a:ext cx="10860666" cy="406265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Structured Data:</a:t>
            </a:r>
            <a:r>
              <a:rPr kumimoji="0" lang="en-US" altLang="en-US" sz="2400" b="0" i="0" u="none" strike="noStrike" cap="none" normalizeH="0" baseline="0" dirty="0">
                <a:ln>
                  <a:noFill/>
                </a:ln>
                <a:solidFill>
                  <a:srgbClr val="0A0A0A"/>
                </a:solidFill>
                <a:effectLst/>
                <a:latin typeface="Google Sans"/>
              </a:rPr>
              <a:t> Highly organized data formatted in fixed fields within records or files, typically stored in relational databases or spreadsheets (e.g., SQL databases). It is easily searchable and used in traditional ML algorithms like regression.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Unstructured Data:</a:t>
            </a:r>
            <a:r>
              <a:rPr kumimoji="0" lang="en-US" altLang="en-US" sz="2400" b="0" i="0" u="none" strike="noStrike" cap="none" normalizeH="0" baseline="0" dirty="0">
                <a:ln>
                  <a:noFill/>
                </a:ln>
                <a:solidFill>
                  <a:srgbClr val="0A0A0A"/>
                </a:solidFill>
                <a:effectLst/>
                <a:latin typeface="Google Sans"/>
              </a:rPr>
              <a:t> Data that lacks a predefined schema or format, such as free-form text, images, audio files, and videos. This type makes up the majority of the data in the world and requires advanced techniques like deep learning or natural language processing (NLP) to process.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Semi-structured Data:</a:t>
            </a:r>
            <a:r>
              <a:rPr kumimoji="0" lang="en-US" altLang="en-US" sz="2400" b="0" i="0" u="none" strike="noStrike" cap="none" normalizeH="0" baseline="0" dirty="0">
                <a:ln>
                  <a:noFill/>
                </a:ln>
                <a:solidFill>
                  <a:srgbClr val="0A0A0A"/>
                </a:solidFill>
                <a:effectLst/>
                <a:latin typeface="Google Sans"/>
              </a:rPr>
              <a:t> A form that does not conform to the formal structure of a relational database but contains tags and markers to enforce a hierarchy of records (e.g., JSON or XML files).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38406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BC08D5C-7857-223E-6A6F-CF8771FFE746}"/>
              </a:ext>
            </a:extLst>
          </p:cNvPr>
          <p:cNvPicPr>
            <a:picLocks noChangeAspect="1"/>
          </p:cNvPicPr>
          <p:nvPr/>
        </p:nvPicPr>
        <p:blipFill>
          <a:blip r:embed="rId2"/>
          <a:stretch>
            <a:fillRect/>
          </a:stretch>
        </p:blipFill>
        <p:spPr>
          <a:xfrm>
            <a:off x="723150" y="1133154"/>
            <a:ext cx="10745700" cy="4591691"/>
          </a:xfrm>
          <a:prstGeom prst="rect">
            <a:avLst/>
          </a:prstGeom>
        </p:spPr>
      </p:pic>
    </p:spTree>
    <p:extLst>
      <p:ext uri="{BB962C8B-B14F-4D97-AF65-F5344CB8AC3E}">
        <p14:creationId xmlns:p14="http://schemas.microsoft.com/office/powerpoint/2010/main" val="3106378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60BCD-11BF-AE81-F8A6-B8D2A3043BB6}"/>
              </a:ext>
            </a:extLst>
          </p:cNvPr>
          <p:cNvSpPr>
            <a:spLocks noGrp="1"/>
          </p:cNvSpPr>
          <p:nvPr>
            <p:ph type="title"/>
          </p:nvPr>
        </p:nvSpPr>
        <p:spPr>
          <a:xfrm>
            <a:off x="601218" y="697873"/>
            <a:ext cx="11155680" cy="936617"/>
          </a:xfrm>
        </p:spPr>
        <p:txBody>
          <a:bodyPr/>
          <a:lstStyle/>
          <a:p>
            <a:r>
              <a:rPr lang="en-US" altLang="en-US" dirty="0">
                <a:solidFill>
                  <a:srgbClr val="001D35"/>
                </a:solidFill>
                <a:latin typeface="Google Sans"/>
              </a:rPr>
              <a:t>Data type - By Type/Nature</a:t>
            </a:r>
            <a:endParaRPr lang="en-US" dirty="0"/>
          </a:p>
        </p:txBody>
      </p:sp>
      <p:sp>
        <p:nvSpPr>
          <p:cNvPr id="4" name="Rectangle 1">
            <a:extLst>
              <a:ext uri="{FF2B5EF4-FFF2-40B4-BE49-F238E27FC236}">
                <a16:creationId xmlns:a16="http://schemas.microsoft.com/office/drawing/2014/main" id="{538263D0-19E8-E3A2-DCA9-75B9BCD6C2EF}"/>
              </a:ext>
            </a:extLst>
          </p:cNvPr>
          <p:cNvSpPr>
            <a:spLocks noGrp="1" noChangeArrowheads="1"/>
          </p:cNvSpPr>
          <p:nvPr>
            <p:ph idx="1"/>
          </p:nvPr>
        </p:nvSpPr>
        <p:spPr bwMode="auto">
          <a:xfrm>
            <a:off x="684276" y="1499759"/>
            <a:ext cx="10989564" cy="517064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Numerical Data:</a:t>
            </a:r>
            <a:r>
              <a:rPr kumimoji="0" lang="en-US" altLang="en-US" sz="2400" b="0" i="0" u="none" strike="noStrike" cap="none" normalizeH="0" baseline="0" dirty="0">
                <a:ln>
                  <a:noFill/>
                </a:ln>
                <a:solidFill>
                  <a:srgbClr val="0A0A0A"/>
                </a:solidFill>
                <a:effectLst/>
                <a:latin typeface="Google Sans"/>
              </a:rPr>
              <a:t> Represents measurable quantities.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Discrete:</a:t>
            </a:r>
            <a:r>
              <a:rPr kumimoji="0" lang="en-US" altLang="en-US" sz="2400" b="0" i="0" u="none" strike="noStrike" cap="none" normalizeH="0" baseline="0" dirty="0">
                <a:ln>
                  <a:noFill/>
                </a:ln>
                <a:solidFill>
                  <a:srgbClr val="0A0A0A"/>
                </a:solidFill>
                <a:effectLst/>
                <a:latin typeface="Google Sans"/>
              </a:rPr>
              <a:t> Data that can only take on a finite number of values (e.g., number of rooms in a house).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Continuous:</a:t>
            </a:r>
            <a:r>
              <a:rPr kumimoji="0" lang="en-US" altLang="en-US" sz="2400" b="0" i="0" u="none" strike="noStrike" cap="none" normalizeH="0" baseline="0" dirty="0">
                <a:ln>
                  <a:noFill/>
                </a:ln>
                <a:solidFill>
                  <a:srgbClr val="0A0A0A"/>
                </a:solidFill>
                <a:effectLst/>
                <a:latin typeface="Google Sans"/>
              </a:rPr>
              <a:t> Data that can take any value within a given range (e.g., temperature or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Categorical Data:</a:t>
            </a:r>
            <a:r>
              <a:rPr kumimoji="0" lang="en-US" altLang="en-US" sz="2400" b="0" i="0" u="none" strike="noStrike" cap="none" normalizeH="0" baseline="0" dirty="0">
                <a:ln>
                  <a:noFill/>
                </a:ln>
                <a:solidFill>
                  <a:srgbClr val="0A0A0A"/>
                </a:solidFill>
                <a:effectLst/>
                <a:latin typeface="Google Sans"/>
              </a:rPr>
              <a:t> Represents characteristics or groups (e.g., gender, product type, or city) which can be converted to a numerical format using techniques like one-hot encoding for use in ML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Time Series Data:</a:t>
            </a:r>
            <a:r>
              <a:rPr kumimoji="0" lang="en-US" altLang="en-US" sz="2400" b="0" i="0" u="none" strike="noStrike" cap="none" normalizeH="0" baseline="0" dirty="0">
                <a:ln>
                  <a:noFill/>
                </a:ln>
                <a:solidFill>
                  <a:srgbClr val="0A0A0A"/>
                </a:solidFill>
                <a:effectLst/>
                <a:latin typeface="Google Sans"/>
              </a:rPr>
              <a:t> Data points indexed or listed in time order, used for tracking trends and forecasting (e.g., stock prices).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Text Data:</a:t>
            </a:r>
            <a:r>
              <a:rPr kumimoji="0" lang="en-US" altLang="en-US" sz="2400" b="0" i="0" u="none" strike="noStrike" cap="none" normalizeH="0" baseline="0" dirty="0">
                <a:ln>
                  <a:noFill/>
                </a:ln>
                <a:solidFill>
                  <a:srgbClr val="0A0A0A"/>
                </a:solidFill>
                <a:effectLst/>
                <a:latin typeface="Google Sans"/>
              </a:rPr>
              <a:t> Words, sentences, and paragraphs used for sentiment analysis, language modeling, and classification tasks through NLP techniques.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rgbClr val="0A0A0A"/>
                </a:solidFill>
                <a:effectLst/>
                <a:latin typeface="Google Sans"/>
              </a:rPr>
              <a:t>Image/Audio Data:</a:t>
            </a:r>
            <a:r>
              <a:rPr kumimoji="0" lang="en-US" altLang="en-US" sz="2400" b="0" i="0" u="none" strike="noStrike" cap="none" normalizeH="0" baseline="0" dirty="0">
                <a:ln>
                  <a:noFill/>
                </a:ln>
                <a:solidFill>
                  <a:srgbClr val="0A0A0A"/>
                </a:solidFill>
                <a:effectLst/>
                <a:latin typeface="Google Sans"/>
              </a:rPr>
              <a:t> Raw pixel values for images or wave signals for audio, processed by computer vision and speech recognition models, respectively.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1904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DB46D23-3518-AD00-984B-CFAB8F26C42F}"/>
              </a:ext>
            </a:extLst>
          </p:cNvPr>
          <p:cNvPicPr>
            <a:picLocks noChangeAspect="1"/>
          </p:cNvPicPr>
          <p:nvPr/>
        </p:nvPicPr>
        <p:blipFill>
          <a:blip r:embed="rId2"/>
          <a:stretch>
            <a:fillRect/>
          </a:stretch>
        </p:blipFill>
        <p:spPr>
          <a:xfrm>
            <a:off x="458253" y="1627679"/>
            <a:ext cx="11275494" cy="2589991"/>
          </a:xfrm>
          <a:prstGeom prst="rect">
            <a:avLst/>
          </a:prstGeom>
        </p:spPr>
      </p:pic>
    </p:spTree>
    <p:extLst>
      <p:ext uri="{BB962C8B-B14F-4D97-AF65-F5344CB8AC3E}">
        <p14:creationId xmlns:p14="http://schemas.microsoft.com/office/powerpoint/2010/main" val="2319448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A51C-D5EB-D9C4-B0E1-F4B14644A8C5}"/>
              </a:ext>
            </a:extLst>
          </p:cNvPr>
          <p:cNvSpPr>
            <a:spLocks noGrp="1"/>
          </p:cNvSpPr>
          <p:nvPr>
            <p:ph type="title"/>
          </p:nvPr>
        </p:nvSpPr>
        <p:spPr/>
        <p:txBody>
          <a:bodyPr/>
          <a:lstStyle/>
          <a:p>
            <a:r>
              <a:rPr lang="en-US" dirty="0"/>
              <a:t>ML Tools </a:t>
            </a:r>
          </a:p>
        </p:txBody>
      </p:sp>
      <p:sp>
        <p:nvSpPr>
          <p:cNvPr id="3" name="Content Placeholder 2">
            <a:extLst>
              <a:ext uri="{FF2B5EF4-FFF2-40B4-BE49-F238E27FC236}">
                <a16:creationId xmlns:a16="http://schemas.microsoft.com/office/drawing/2014/main" id="{5DDC0328-D2F3-EB5B-E550-035D62F697DD}"/>
              </a:ext>
            </a:extLst>
          </p:cNvPr>
          <p:cNvSpPr>
            <a:spLocks noGrp="1"/>
          </p:cNvSpPr>
          <p:nvPr>
            <p:ph idx="1"/>
          </p:nvPr>
        </p:nvSpPr>
        <p:spPr/>
        <p:txBody>
          <a:bodyPr/>
          <a:lstStyle/>
          <a:p>
            <a:r>
              <a:rPr lang="en-US" dirty="0"/>
              <a:t>Microsoft Azure Machine Learning</a:t>
            </a:r>
          </a:p>
          <a:p>
            <a:r>
              <a:rPr lang="en-US" dirty="0"/>
              <a:t>Amazon SageMaker</a:t>
            </a:r>
          </a:p>
          <a:p>
            <a:r>
              <a:rPr lang="en-US" dirty="0" err="1"/>
              <a:t>BigML</a:t>
            </a:r>
            <a:endParaRPr lang="en-US" dirty="0"/>
          </a:p>
          <a:p>
            <a:r>
              <a:rPr lang="en-US" dirty="0"/>
              <a:t>TensorFlow</a:t>
            </a:r>
          </a:p>
          <a:p>
            <a:r>
              <a:rPr lang="en-US" dirty="0" err="1"/>
              <a:t>PyTorch</a:t>
            </a:r>
            <a:endParaRPr lang="en-US" dirty="0"/>
          </a:p>
          <a:p>
            <a:r>
              <a:rPr lang="en-US" dirty="0"/>
              <a:t>Apache Mahout</a:t>
            </a:r>
          </a:p>
          <a:p>
            <a:r>
              <a:rPr lang="en-US" dirty="0"/>
              <a:t>Weka</a:t>
            </a:r>
          </a:p>
          <a:p>
            <a:r>
              <a:rPr lang="en-US" dirty="0"/>
              <a:t>Vertex AI</a:t>
            </a:r>
          </a:p>
          <a:p>
            <a:endParaRPr lang="en-US" dirty="0"/>
          </a:p>
        </p:txBody>
      </p:sp>
    </p:spTree>
    <p:extLst>
      <p:ext uri="{BB962C8B-B14F-4D97-AF65-F5344CB8AC3E}">
        <p14:creationId xmlns:p14="http://schemas.microsoft.com/office/powerpoint/2010/main" val="41291523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7419-38CC-E599-542E-3E43754A27BD}"/>
              </a:ext>
            </a:extLst>
          </p:cNvPr>
          <p:cNvSpPr>
            <a:spLocks noGrp="1"/>
          </p:cNvSpPr>
          <p:nvPr>
            <p:ph type="ctrTitle"/>
          </p:nvPr>
        </p:nvSpPr>
        <p:spPr/>
        <p:txBody>
          <a:bodyPr/>
          <a:lstStyle/>
          <a:p>
            <a:r>
              <a:rPr lang="en-US" dirty="0"/>
              <a:t>Statistics in Data Science</a:t>
            </a:r>
          </a:p>
        </p:txBody>
      </p:sp>
      <p:sp>
        <p:nvSpPr>
          <p:cNvPr id="3" name="Subtitle 2">
            <a:extLst>
              <a:ext uri="{FF2B5EF4-FFF2-40B4-BE49-F238E27FC236}">
                <a16:creationId xmlns:a16="http://schemas.microsoft.com/office/drawing/2014/main" id="{03F139BC-CB12-9B9B-FF83-0D4613BDC0C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522859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FDA1E-C8A0-C6D8-1286-23527C469705}"/>
              </a:ext>
            </a:extLst>
          </p:cNvPr>
          <p:cNvSpPr>
            <a:spLocks noGrp="1"/>
          </p:cNvSpPr>
          <p:nvPr>
            <p:ph type="title"/>
          </p:nvPr>
        </p:nvSpPr>
        <p:spPr/>
        <p:txBody>
          <a:bodyPr/>
          <a:lstStyle/>
          <a:p>
            <a:r>
              <a:rPr lang="en-US" dirty="0"/>
              <a:t>Statistics For Data Science</a:t>
            </a:r>
            <a:br>
              <a:rPr lang="en-US" dirty="0"/>
            </a:br>
            <a:endParaRPr lang="en-US" dirty="0"/>
          </a:p>
        </p:txBody>
      </p:sp>
      <p:sp>
        <p:nvSpPr>
          <p:cNvPr id="3" name="Content Placeholder 2">
            <a:extLst>
              <a:ext uri="{FF2B5EF4-FFF2-40B4-BE49-F238E27FC236}">
                <a16:creationId xmlns:a16="http://schemas.microsoft.com/office/drawing/2014/main" id="{D624FC4C-79C9-7D06-F19D-AF26F0FF36C4}"/>
              </a:ext>
            </a:extLst>
          </p:cNvPr>
          <p:cNvSpPr>
            <a:spLocks noGrp="1"/>
          </p:cNvSpPr>
          <p:nvPr>
            <p:ph idx="1"/>
          </p:nvPr>
        </p:nvSpPr>
        <p:spPr>
          <a:xfrm>
            <a:off x="521208" y="2000250"/>
            <a:ext cx="11155680" cy="4345686"/>
          </a:xfrm>
        </p:spPr>
        <p:txBody>
          <a:bodyPr/>
          <a:lstStyle/>
          <a:p>
            <a:pPr marL="0" indent="0" fontAlgn="base">
              <a:buNone/>
            </a:pPr>
            <a:r>
              <a:rPr lang="en-US" sz="2400" dirty="0"/>
              <a:t>Statistics is the science of collecting, analyzing, and interpreting data to uncover patterns and make decisions. In data science, it acts as the backbone for understanding data and building reliable models.</a:t>
            </a:r>
          </a:p>
          <a:p>
            <a:pPr fontAlgn="base"/>
            <a:r>
              <a:rPr lang="en-US" sz="2400" dirty="0"/>
              <a:t>Summarizes data using measures like mean, median, and variance</a:t>
            </a:r>
          </a:p>
          <a:p>
            <a:pPr fontAlgn="base"/>
            <a:r>
              <a:rPr lang="en-US" sz="2400" dirty="0"/>
              <a:t>Models uncertainty with probability and distributions</a:t>
            </a:r>
          </a:p>
          <a:p>
            <a:pPr fontAlgn="base"/>
            <a:r>
              <a:rPr lang="en-US" sz="2400" dirty="0"/>
              <a:t>Tests hypotheses (e.g., A/B testing)</a:t>
            </a:r>
          </a:p>
          <a:p>
            <a:pPr fontAlgn="base"/>
            <a:r>
              <a:rPr lang="en-US" sz="2400" dirty="0"/>
              <a:t>Finds relationships through regression and correlation</a:t>
            </a:r>
          </a:p>
          <a:p>
            <a:endParaRPr lang="en-US" dirty="0"/>
          </a:p>
        </p:txBody>
      </p:sp>
    </p:spTree>
    <p:extLst>
      <p:ext uri="{BB962C8B-B14F-4D97-AF65-F5344CB8AC3E}">
        <p14:creationId xmlns:p14="http://schemas.microsoft.com/office/powerpoint/2010/main" val="2014733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7CAAA-C264-242E-122B-1472E03D2BB6}"/>
              </a:ext>
            </a:extLst>
          </p:cNvPr>
          <p:cNvPicPr>
            <a:picLocks noChangeAspect="1"/>
          </p:cNvPicPr>
          <p:nvPr/>
        </p:nvPicPr>
        <p:blipFill>
          <a:blip r:embed="rId2"/>
          <a:stretch>
            <a:fillRect/>
          </a:stretch>
        </p:blipFill>
        <p:spPr>
          <a:xfrm>
            <a:off x="468968" y="103513"/>
            <a:ext cx="11254063" cy="4481147"/>
          </a:xfrm>
          <a:prstGeom prst="rect">
            <a:avLst/>
          </a:prstGeom>
        </p:spPr>
      </p:pic>
      <p:sp>
        <p:nvSpPr>
          <p:cNvPr id="5" name="TextBox 4">
            <a:extLst>
              <a:ext uri="{FF2B5EF4-FFF2-40B4-BE49-F238E27FC236}">
                <a16:creationId xmlns:a16="http://schemas.microsoft.com/office/drawing/2014/main" id="{E56837AB-C772-580D-6DFF-AC8E79415A21}"/>
              </a:ext>
            </a:extLst>
          </p:cNvPr>
          <p:cNvSpPr txBox="1"/>
          <p:nvPr/>
        </p:nvSpPr>
        <p:spPr>
          <a:xfrm>
            <a:off x="476251" y="4584661"/>
            <a:ext cx="5566072" cy="1938992"/>
          </a:xfrm>
          <a:prstGeom prst="rect">
            <a:avLst/>
          </a:prstGeom>
          <a:noFill/>
        </p:spPr>
        <p:txBody>
          <a:bodyPr wrap="square">
            <a:spAutoFit/>
          </a:bodyPr>
          <a:lstStyle/>
          <a:p>
            <a:pPr algn="l" fontAlgn="base">
              <a:spcAft>
                <a:spcPts val="1800"/>
              </a:spcAft>
              <a:buFont typeface="+mj-lt"/>
              <a:buAutoNum type="arabicPeriod"/>
            </a:pPr>
            <a:r>
              <a:rPr lang="en-US" sz="2400" b="1" i="0" dirty="0">
                <a:solidFill>
                  <a:srgbClr val="273239"/>
                </a:solidFill>
                <a:effectLst/>
                <a:latin typeface="Nunito" pitchFamily="2" charset="0"/>
              </a:rPr>
              <a:t>Descriptive Statistics: </a:t>
            </a:r>
            <a:r>
              <a:rPr lang="en-US" sz="2400" b="0" i="0" u="sng" dirty="0">
                <a:solidFill>
                  <a:srgbClr val="357960"/>
                </a:solidFill>
                <a:effectLst/>
                <a:latin typeface="Nunito" pitchFamily="2" charset="0"/>
                <a:hlinkClick r:id="rId3"/>
              </a:rPr>
              <a:t>De­scriptive Statistics</a:t>
            </a:r>
            <a:r>
              <a:rPr lang="en-US" sz="2400" b="0" i="0" dirty="0">
                <a:solidFill>
                  <a:srgbClr val="273239"/>
                </a:solidFill>
                <a:effectLst/>
                <a:latin typeface="Nunito" pitchFamily="2" charset="0"/>
              </a:rPr>
              <a:t> helps us simplify and organize big chunks of data. This makes large amounts of data easier to understand.</a:t>
            </a:r>
          </a:p>
        </p:txBody>
      </p:sp>
      <p:sp>
        <p:nvSpPr>
          <p:cNvPr id="6" name="TextBox 5">
            <a:extLst>
              <a:ext uri="{FF2B5EF4-FFF2-40B4-BE49-F238E27FC236}">
                <a16:creationId xmlns:a16="http://schemas.microsoft.com/office/drawing/2014/main" id="{5F66BCAF-567C-B294-D32D-EA631782F996}"/>
              </a:ext>
            </a:extLst>
          </p:cNvPr>
          <p:cNvSpPr txBox="1"/>
          <p:nvPr/>
        </p:nvSpPr>
        <p:spPr>
          <a:xfrm>
            <a:off x="6511292" y="4584661"/>
            <a:ext cx="5680708" cy="1938992"/>
          </a:xfrm>
          <a:prstGeom prst="rect">
            <a:avLst/>
          </a:prstGeom>
          <a:noFill/>
        </p:spPr>
        <p:txBody>
          <a:bodyPr wrap="square">
            <a:spAutoFit/>
          </a:bodyPr>
          <a:lstStyle/>
          <a:p>
            <a:pPr algn="l" fontAlgn="base">
              <a:spcAft>
                <a:spcPts val="1800"/>
              </a:spcAft>
              <a:buFont typeface="+mj-lt"/>
              <a:buAutoNum type="arabicPeriod" startAt="2"/>
            </a:pPr>
            <a:r>
              <a:rPr lang="en-US" sz="2400" b="1" i="0" dirty="0">
                <a:solidFill>
                  <a:srgbClr val="273239"/>
                </a:solidFill>
                <a:effectLst/>
                <a:latin typeface="Nunito" pitchFamily="2" charset="0"/>
              </a:rPr>
              <a:t>Inferential Statistics: </a:t>
            </a:r>
            <a:r>
              <a:rPr lang="en-US" sz="2400" b="0" i="0" u="sng" dirty="0">
                <a:solidFill>
                  <a:srgbClr val="357960"/>
                </a:solidFill>
                <a:effectLst/>
                <a:latin typeface="Nunito" pitchFamily="2" charset="0"/>
                <a:hlinkClick r:id="rId4"/>
              </a:rPr>
              <a:t>Inferential Statistics</a:t>
            </a:r>
            <a:r>
              <a:rPr lang="en-US" sz="2400" b="0" i="0" dirty="0">
                <a:solidFill>
                  <a:srgbClr val="273239"/>
                </a:solidFill>
                <a:effectLst/>
                <a:latin typeface="Nunito" pitchFamily="2" charset="0"/>
              </a:rPr>
              <a:t> is a little different. It uses smaller data to conclude a larger group. It helps us predict and draw conclusions about a population.</a:t>
            </a:r>
          </a:p>
        </p:txBody>
      </p:sp>
    </p:spTree>
    <p:extLst>
      <p:ext uri="{BB962C8B-B14F-4D97-AF65-F5344CB8AC3E}">
        <p14:creationId xmlns:p14="http://schemas.microsoft.com/office/powerpoint/2010/main" val="8680124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3C8E9-F057-33AD-F2B8-10AAB1CA993C}"/>
              </a:ext>
            </a:extLst>
          </p:cNvPr>
          <p:cNvSpPr>
            <a:spLocks noGrp="1"/>
          </p:cNvSpPr>
          <p:nvPr>
            <p:ph type="title"/>
          </p:nvPr>
        </p:nvSpPr>
        <p:spPr>
          <a:xfrm>
            <a:off x="521208" y="978408"/>
            <a:ext cx="11155680" cy="976122"/>
          </a:xfrm>
        </p:spPr>
        <p:txBody>
          <a:bodyPr>
            <a:normAutofit fontScale="90000"/>
          </a:bodyPr>
          <a:lstStyle/>
          <a:p>
            <a:r>
              <a:rPr lang="en-US" dirty="0"/>
              <a:t>Data in Statistics?</a:t>
            </a:r>
            <a:br>
              <a:rPr lang="en-US" dirty="0"/>
            </a:br>
            <a:br>
              <a:rPr lang="en-US" dirty="0"/>
            </a:br>
            <a:endParaRPr lang="en-US" dirty="0"/>
          </a:p>
        </p:txBody>
      </p:sp>
      <p:sp>
        <p:nvSpPr>
          <p:cNvPr id="3" name="Content Placeholder 2">
            <a:extLst>
              <a:ext uri="{FF2B5EF4-FFF2-40B4-BE49-F238E27FC236}">
                <a16:creationId xmlns:a16="http://schemas.microsoft.com/office/drawing/2014/main" id="{A774DF07-5941-B18F-52B5-4F7941DFB387}"/>
              </a:ext>
            </a:extLst>
          </p:cNvPr>
          <p:cNvSpPr>
            <a:spLocks noGrp="1"/>
          </p:cNvSpPr>
          <p:nvPr>
            <p:ph idx="1"/>
          </p:nvPr>
        </p:nvSpPr>
        <p:spPr>
          <a:xfrm>
            <a:off x="518160" y="2112264"/>
            <a:ext cx="11155680" cy="3767328"/>
          </a:xfrm>
        </p:spPr>
        <p:txBody>
          <a:bodyPr>
            <a:normAutofit/>
          </a:bodyPr>
          <a:lstStyle/>
          <a:p>
            <a:pPr marL="0" indent="0" fontAlgn="base">
              <a:buNone/>
            </a:pPr>
            <a:r>
              <a:rPr lang="en-US" sz="2400" b="1" dirty="0"/>
              <a:t>Types of Data</a:t>
            </a:r>
          </a:p>
          <a:p>
            <a:pPr marL="0" indent="0" fontAlgn="base">
              <a:buNone/>
            </a:pPr>
            <a:r>
              <a:rPr lang="en-US" sz="2400" b="1" dirty="0"/>
              <a:t>1. </a:t>
            </a:r>
            <a:r>
              <a:rPr lang="en-US" sz="2400" b="1" u="sng" dirty="0">
                <a:hlinkClick r:id="rId2"/>
              </a:rPr>
              <a:t>Qualitative Data:</a:t>
            </a:r>
            <a:r>
              <a:rPr lang="en-US" sz="2400" dirty="0"/>
              <a:t> This data is descriptive. For example - She is beautiful, He is tall, etc.</a:t>
            </a:r>
          </a:p>
          <a:p>
            <a:pPr marL="0" indent="0" fontAlgn="base">
              <a:buNone/>
            </a:pPr>
            <a:r>
              <a:rPr lang="en-US" sz="2400" b="1" dirty="0"/>
              <a:t>2. Quantitative Data: </a:t>
            </a:r>
            <a:r>
              <a:rPr lang="en-US" sz="2400" dirty="0"/>
              <a:t>This is numerical information. For example- A horse has four legs.</a:t>
            </a:r>
          </a:p>
          <a:p>
            <a:pPr marL="457200" lvl="1" indent="0" fontAlgn="base">
              <a:buNone/>
            </a:pPr>
            <a:r>
              <a:rPr lang="en-US" sz="2400" b="1" dirty="0"/>
              <a:t>Discrete Data: </a:t>
            </a:r>
            <a:r>
              <a:rPr lang="en-US" sz="2400" dirty="0"/>
              <a:t>It has a particular fixed value and can be counted.</a:t>
            </a:r>
          </a:p>
          <a:p>
            <a:pPr marL="457200" lvl="1" indent="0" fontAlgn="base">
              <a:buNone/>
            </a:pPr>
            <a:r>
              <a:rPr lang="en-US" sz="2400" b="1" dirty="0"/>
              <a:t>Continuous Data: </a:t>
            </a:r>
            <a:r>
              <a:rPr lang="en-US" sz="2400" dirty="0"/>
              <a:t>It is not fixed but has a range of data and can be measured.</a:t>
            </a:r>
          </a:p>
          <a:p>
            <a:endParaRPr lang="en-US" sz="2400" dirty="0"/>
          </a:p>
        </p:txBody>
      </p:sp>
    </p:spTree>
    <p:extLst>
      <p:ext uri="{BB962C8B-B14F-4D97-AF65-F5344CB8AC3E}">
        <p14:creationId xmlns:p14="http://schemas.microsoft.com/office/powerpoint/2010/main" val="1765250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4B3C8-D05E-44E1-DE39-F906B86131D2}"/>
              </a:ext>
            </a:extLst>
          </p:cNvPr>
          <p:cNvPicPr>
            <a:picLocks noChangeAspect="1"/>
          </p:cNvPicPr>
          <p:nvPr/>
        </p:nvPicPr>
        <p:blipFill>
          <a:blip r:embed="rId2"/>
          <a:srcRect t="21251" b="9816"/>
          <a:stretch>
            <a:fillRect/>
          </a:stretch>
        </p:blipFill>
        <p:spPr>
          <a:xfrm>
            <a:off x="421701" y="1008698"/>
            <a:ext cx="11348597" cy="4840604"/>
          </a:xfrm>
          <a:prstGeom prst="rect">
            <a:avLst/>
          </a:prstGeom>
        </p:spPr>
      </p:pic>
    </p:spTree>
    <p:extLst>
      <p:ext uri="{BB962C8B-B14F-4D97-AF65-F5344CB8AC3E}">
        <p14:creationId xmlns:p14="http://schemas.microsoft.com/office/powerpoint/2010/main" val="500445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7630C06-1EE2-6EF3-B6E4-544881C42BFE}"/>
              </a:ext>
            </a:extLst>
          </p:cNvPr>
          <p:cNvSpPr>
            <a:spLocks noGrp="1"/>
          </p:cNvSpPr>
          <p:nvPr>
            <p:ph type="title"/>
          </p:nvPr>
        </p:nvSpPr>
        <p:spPr>
          <a:xfrm>
            <a:off x="521208" y="978408"/>
            <a:ext cx="6300216" cy="1325880"/>
          </a:xfrm>
        </p:spPr>
        <p:txBody>
          <a:bodyPr>
            <a:normAutofit/>
          </a:bodyPr>
          <a:lstStyle/>
          <a:p>
            <a:pPr>
              <a:lnSpc>
                <a:spcPct val="90000"/>
              </a:lnSpc>
            </a:pPr>
            <a:r>
              <a:rPr lang="en-US"/>
              <a:t>Measure of Shape</a:t>
            </a:r>
            <a:br>
              <a:rPr lang="en-US"/>
            </a:br>
            <a:endParaRPr lang="en-US"/>
          </a:p>
        </p:txBody>
      </p:sp>
      <p:sp>
        <p:nvSpPr>
          <p:cNvPr id="16" name="Rectangle 15">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 name="Picture 4">
            <a:extLst>
              <a:ext uri="{FF2B5EF4-FFF2-40B4-BE49-F238E27FC236}">
                <a16:creationId xmlns:a16="http://schemas.microsoft.com/office/drawing/2014/main" id="{519AE1E6-3A23-EB83-DE41-CBEC83336814}"/>
              </a:ext>
            </a:extLst>
          </p:cNvPr>
          <p:cNvPicPr>
            <a:picLocks noChangeAspect="1"/>
          </p:cNvPicPr>
          <p:nvPr/>
        </p:nvPicPr>
        <p:blipFill>
          <a:blip r:embed="rId2"/>
          <a:stretch>
            <a:fillRect/>
          </a:stretch>
        </p:blipFill>
        <p:spPr>
          <a:xfrm>
            <a:off x="289266" y="2492104"/>
            <a:ext cx="6865913" cy="3760105"/>
          </a:xfrm>
          <a:prstGeom prst="rect">
            <a:avLst/>
          </a:prstGeom>
        </p:spPr>
      </p:pic>
      <p:sp>
        <p:nvSpPr>
          <p:cNvPr id="3" name="Content Placeholder 2">
            <a:extLst>
              <a:ext uri="{FF2B5EF4-FFF2-40B4-BE49-F238E27FC236}">
                <a16:creationId xmlns:a16="http://schemas.microsoft.com/office/drawing/2014/main" id="{369FC267-E5BA-65B4-7402-849085F20C2A}"/>
              </a:ext>
            </a:extLst>
          </p:cNvPr>
          <p:cNvSpPr>
            <a:spLocks noGrp="1"/>
          </p:cNvSpPr>
          <p:nvPr>
            <p:ph idx="1"/>
          </p:nvPr>
        </p:nvSpPr>
        <p:spPr>
          <a:xfrm>
            <a:off x="7676387" y="1128782"/>
            <a:ext cx="4160520" cy="5257800"/>
          </a:xfrm>
        </p:spPr>
        <p:txBody>
          <a:bodyPr>
            <a:normAutofit/>
          </a:bodyPr>
          <a:lstStyle/>
          <a:p>
            <a:pPr marL="0" indent="0">
              <a:buNone/>
            </a:pPr>
            <a:r>
              <a:rPr lang="en-US" sz="2000" b="1" dirty="0"/>
              <a:t>Skewness</a:t>
            </a:r>
          </a:p>
          <a:p>
            <a:pPr fontAlgn="base"/>
            <a:r>
              <a:rPr lang="en-US" sz="2000" b="1" dirty="0"/>
              <a:t>Types of Skewed data</a:t>
            </a:r>
            <a:endParaRPr lang="en-US" sz="2000" dirty="0"/>
          </a:p>
          <a:p>
            <a:pPr lvl="1" fontAlgn="base"/>
            <a:r>
              <a:rPr lang="en-US" sz="2000" b="1" dirty="0"/>
              <a:t>Positive Skew (Right):</a:t>
            </a:r>
            <a:r>
              <a:rPr lang="en-US" sz="2000" dirty="0"/>
              <a:t> Mean &gt; Median</a:t>
            </a:r>
          </a:p>
          <a:p>
            <a:pPr lvl="1" fontAlgn="base"/>
            <a:r>
              <a:rPr lang="en-US" sz="2000" b="1" dirty="0"/>
              <a:t>Negative Skew (Left):</a:t>
            </a:r>
            <a:r>
              <a:rPr lang="en-US" sz="2000" dirty="0"/>
              <a:t> Mean &lt; Median</a:t>
            </a:r>
          </a:p>
          <a:p>
            <a:pPr lvl="1" fontAlgn="base"/>
            <a:r>
              <a:rPr lang="en-US" sz="2000" b="1" dirty="0"/>
              <a:t>Symmetrical:</a:t>
            </a:r>
            <a:r>
              <a:rPr lang="en-US" sz="2000" dirty="0"/>
              <a:t> Mean = Median</a:t>
            </a:r>
          </a:p>
          <a:p>
            <a:endParaRPr lang="en-US" sz="2000" dirty="0"/>
          </a:p>
        </p:txBody>
      </p:sp>
    </p:spTree>
    <p:extLst>
      <p:ext uri="{BB962C8B-B14F-4D97-AF65-F5344CB8AC3E}">
        <p14:creationId xmlns:p14="http://schemas.microsoft.com/office/powerpoint/2010/main" val="3671446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E6A60-EC95-5B7D-7B6F-529C59AD8F17}"/>
              </a:ext>
            </a:extLst>
          </p:cNvPr>
          <p:cNvSpPr>
            <a:spLocks noGrp="1"/>
          </p:cNvSpPr>
          <p:nvPr>
            <p:ph type="title"/>
          </p:nvPr>
        </p:nvSpPr>
        <p:spPr>
          <a:xfrm>
            <a:off x="521208" y="715518"/>
            <a:ext cx="11155680" cy="1463040"/>
          </a:xfrm>
        </p:spPr>
        <p:txBody>
          <a:bodyPr>
            <a:normAutofit fontScale="90000"/>
          </a:bodyPr>
          <a:lstStyle/>
          <a:p>
            <a:r>
              <a:rPr lang="en-US" dirty="0"/>
              <a:t>Python Statistics Libraries</a:t>
            </a:r>
            <a:br>
              <a:rPr lang="en-US" dirty="0"/>
            </a:br>
            <a:br>
              <a:rPr lang="en-US" dirty="0"/>
            </a:br>
            <a:endParaRPr lang="en-US" dirty="0"/>
          </a:p>
        </p:txBody>
      </p:sp>
      <p:sp>
        <p:nvSpPr>
          <p:cNvPr id="3" name="Content Placeholder 2">
            <a:extLst>
              <a:ext uri="{FF2B5EF4-FFF2-40B4-BE49-F238E27FC236}">
                <a16:creationId xmlns:a16="http://schemas.microsoft.com/office/drawing/2014/main" id="{393E8E42-7288-5C94-889E-EE03FE4925E5}"/>
              </a:ext>
            </a:extLst>
          </p:cNvPr>
          <p:cNvSpPr>
            <a:spLocks noGrp="1"/>
          </p:cNvSpPr>
          <p:nvPr>
            <p:ph idx="1"/>
          </p:nvPr>
        </p:nvSpPr>
        <p:spPr>
          <a:xfrm>
            <a:off x="521208" y="1497330"/>
            <a:ext cx="11377422" cy="5360670"/>
          </a:xfrm>
        </p:spPr>
        <p:txBody>
          <a:bodyPr>
            <a:noAutofit/>
          </a:bodyPr>
          <a:lstStyle/>
          <a:p>
            <a:pPr algn="just"/>
            <a:r>
              <a:rPr lang="en-US" sz="2400" b="1" dirty="0">
                <a:hlinkClick r:id="rId2"/>
              </a:rPr>
              <a:t>NumPy</a:t>
            </a:r>
            <a:r>
              <a:rPr lang="en-US" sz="2400" dirty="0"/>
              <a:t> is a third-party library for numerical computing, optimized for working with single- and multi-dimensional arrays. Its primary type is the array type called </a:t>
            </a:r>
            <a:r>
              <a:rPr lang="en-US" sz="2400" dirty="0" err="1">
                <a:hlinkClick r:id="rId3"/>
              </a:rPr>
              <a:t>ndarray</a:t>
            </a:r>
            <a:r>
              <a:rPr lang="en-US" sz="2400" dirty="0"/>
              <a:t>. This library contains many </a:t>
            </a:r>
            <a:r>
              <a:rPr lang="en-US" sz="2400" dirty="0">
                <a:hlinkClick r:id="rId4"/>
              </a:rPr>
              <a:t>routines</a:t>
            </a:r>
            <a:r>
              <a:rPr lang="en-US" sz="2400" dirty="0"/>
              <a:t> for statistical analysis.</a:t>
            </a:r>
          </a:p>
          <a:p>
            <a:pPr algn="just"/>
            <a:r>
              <a:rPr lang="en-US" sz="2400" b="1" dirty="0">
                <a:hlinkClick r:id="rId5"/>
              </a:rPr>
              <a:t>SciPy</a:t>
            </a:r>
            <a:r>
              <a:rPr lang="en-US" sz="2400" dirty="0"/>
              <a:t> is a third-party library for scientific computing based on NumPy. It offers additional functionality compared to NumPy, including </a:t>
            </a:r>
            <a:r>
              <a:rPr lang="en-US" sz="2400" dirty="0" err="1">
                <a:hlinkClick r:id="rId6"/>
              </a:rPr>
              <a:t>scipy.stats</a:t>
            </a:r>
            <a:r>
              <a:rPr lang="en-US" sz="2400" dirty="0"/>
              <a:t> for statistical analysis.</a:t>
            </a:r>
          </a:p>
          <a:p>
            <a:pPr algn="just"/>
            <a:r>
              <a:rPr lang="en-US" sz="2400" b="1" dirty="0">
                <a:hlinkClick r:id="rId7"/>
              </a:rPr>
              <a:t>pandas</a:t>
            </a:r>
            <a:r>
              <a:rPr lang="en-US" sz="2400" dirty="0"/>
              <a:t> is a third-party library for numerical computing based on NumPy. It excels in handling labeled one-dimensional (1D) data with </a:t>
            </a:r>
            <a:r>
              <a:rPr lang="en-US" sz="2400" dirty="0">
                <a:hlinkClick r:id="rId8"/>
              </a:rPr>
              <a:t>Series</a:t>
            </a:r>
            <a:r>
              <a:rPr lang="en-US" sz="2400" dirty="0"/>
              <a:t> objects and two-dimensional (2D) data with </a:t>
            </a:r>
            <a:r>
              <a:rPr lang="en-US" sz="2400" dirty="0" err="1">
                <a:hlinkClick r:id="rId9"/>
              </a:rPr>
              <a:t>DataFrame</a:t>
            </a:r>
            <a:r>
              <a:rPr lang="en-US" sz="2400" dirty="0"/>
              <a:t> objects.</a:t>
            </a:r>
          </a:p>
          <a:p>
            <a:pPr algn="just"/>
            <a:r>
              <a:rPr lang="en-US" sz="2400" b="1" dirty="0">
                <a:hlinkClick r:id="rId10"/>
              </a:rPr>
              <a:t>Matplotlib</a:t>
            </a:r>
            <a:r>
              <a:rPr lang="en-US" sz="2400" dirty="0"/>
              <a:t> is a third-party library for data visualization. It works well in combination with NumPy, SciPy, and pandas.</a:t>
            </a:r>
          </a:p>
          <a:p>
            <a:pPr algn="just"/>
            <a:endParaRPr lang="en-US" sz="2400" dirty="0"/>
          </a:p>
        </p:txBody>
      </p:sp>
    </p:spTree>
    <p:extLst>
      <p:ext uri="{BB962C8B-B14F-4D97-AF65-F5344CB8AC3E}">
        <p14:creationId xmlns:p14="http://schemas.microsoft.com/office/powerpoint/2010/main" val="29987498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A26D2-2EC8-ACD3-C582-120346FE8777}"/>
              </a:ext>
            </a:extLst>
          </p:cNvPr>
          <p:cNvSpPr>
            <a:spLocks noGrp="1"/>
          </p:cNvSpPr>
          <p:nvPr>
            <p:ph type="title"/>
          </p:nvPr>
        </p:nvSpPr>
        <p:spPr/>
        <p:txBody>
          <a:bodyPr/>
          <a:lstStyle/>
          <a:p>
            <a:r>
              <a:rPr lang="en-US" dirty="0"/>
              <a:t>Calculating Descriptive Statistics</a:t>
            </a:r>
            <a:br>
              <a:rPr lang="en-US" dirty="0"/>
            </a:br>
            <a:endParaRPr lang="en-US" dirty="0"/>
          </a:p>
        </p:txBody>
      </p:sp>
      <p:sp>
        <p:nvSpPr>
          <p:cNvPr id="3" name="Content Placeholder 2">
            <a:extLst>
              <a:ext uri="{FF2B5EF4-FFF2-40B4-BE49-F238E27FC236}">
                <a16:creationId xmlns:a16="http://schemas.microsoft.com/office/drawing/2014/main" id="{BE509A50-1F20-91C4-5FBE-F3437D90966F}"/>
              </a:ext>
            </a:extLst>
          </p:cNvPr>
          <p:cNvSpPr>
            <a:spLocks noGrp="1"/>
          </p:cNvSpPr>
          <p:nvPr>
            <p:ph idx="1"/>
          </p:nvPr>
        </p:nvSpPr>
        <p:spPr>
          <a:xfrm>
            <a:off x="521208" y="1851660"/>
            <a:ext cx="11155680" cy="4493722"/>
          </a:xfrm>
        </p:spPr>
        <p:txBody>
          <a:bodyPr>
            <a:noAutofit/>
          </a:bodyPr>
          <a:lstStyle/>
          <a:p>
            <a:pPr marL="0" indent="0">
              <a:buNone/>
            </a:pPr>
            <a:r>
              <a:rPr lang="en-US" sz="2000" dirty="0"/>
              <a:t>import math</a:t>
            </a:r>
          </a:p>
          <a:p>
            <a:pPr marL="0" indent="0">
              <a:buNone/>
            </a:pPr>
            <a:r>
              <a:rPr lang="en-US" sz="2000" dirty="0"/>
              <a:t> import statistics</a:t>
            </a:r>
          </a:p>
          <a:p>
            <a:pPr marL="0" indent="0">
              <a:buNone/>
            </a:pPr>
            <a:r>
              <a:rPr lang="en-US" sz="2000" dirty="0"/>
              <a:t>import </a:t>
            </a:r>
            <a:r>
              <a:rPr lang="en-US" sz="2000" dirty="0" err="1"/>
              <a:t>numpy</a:t>
            </a:r>
            <a:r>
              <a:rPr lang="en-US" sz="2000" dirty="0"/>
              <a:t> as np</a:t>
            </a:r>
          </a:p>
          <a:p>
            <a:pPr marL="0" indent="0">
              <a:buNone/>
            </a:pPr>
            <a:r>
              <a:rPr lang="en-US" sz="2000" dirty="0"/>
              <a:t>import </a:t>
            </a:r>
            <a:r>
              <a:rPr lang="en-US" sz="2000" dirty="0" err="1"/>
              <a:t>scipy.stats</a:t>
            </a:r>
            <a:endParaRPr lang="en-US" sz="2000" dirty="0"/>
          </a:p>
          <a:p>
            <a:pPr marL="0" indent="0">
              <a:buNone/>
            </a:pPr>
            <a:r>
              <a:rPr lang="en-US" sz="2000" dirty="0"/>
              <a:t>import pandas as pd</a:t>
            </a:r>
          </a:p>
          <a:p>
            <a:pPr marL="0" indent="0">
              <a:buNone/>
            </a:pPr>
            <a:r>
              <a:rPr lang="en-US" sz="2000" dirty="0"/>
              <a:t> x = [8.0, 1, 2.5, 4, 28.0]</a:t>
            </a:r>
          </a:p>
          <a:p>
            <a:pPr marL="0" indent="0">
              <a:buNone/>
            </a:pPr>
            <a:r>
              <a:rPr lang="en-US" sz="2000" dirty="0" err="1"/>
              <a:t>x_with_nan</a:t>
            </a:r>
            <a:r>
              <a:rPr lang="en-US" sz="2000" dirty="0"/>
              <a:t> = [8.0, 1, 2.5, </a:t>
            </a:r>
            <a:r>
              <a:rPr lang="en-US" sz="2000" dirty="0" err="1"/>
              <a:t>math.nan</a:t>
            </a:r>
            <a:r>
              <a:rPr lang="en-US" sz="2000" dirty="0"/>
              <a:t>, 4, 28.0]</a:t>
            </a:r>
          </a:p>
          <a:p>
            <a:pPr marL="0" indent="0">
              <a:buNone/>
            </a:pPr>
            <a:r>
              <a:rPr lang="en-US" sz="2000" dirty="0"/>
              <a:t>x</a:t>
            </a:r>
          </a:p>
          <a:p>
            <a:pPr marL="0" indent="0">
              <a:buNone/>
            </a:pPr>
            <a:r>
              <a:rPr lang="en-US" sz="2000" dirty="0" err="1"/>
              <a:t>x_with_nan</a:t>
            </a:r>
            <a:endParaRPr lang="en-US" sz="2000" dirty="0"/>
          </a:p>
          <a:p>
            <a:pPr marL="0" indent="0">
              <a:buNone/>
            </a:pPr>
            <a:endParaRPr lang="en-US" sz="2000" dirty="0"/>
          </a:p>
        </p:txBody>
      </p:sp>
    </p:spTree>
    <p:extLst>
      <p:ext uri="{BB962C8B-B14F-4D97-AF65-F5344CB8AC3E}">
        <p14:creationId xmlns:p14="http://schemas.microsoft.com/office/powerpoint/2010/main" val="366150178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2090</Words>
  <Application>Microsoft Office PowerPoint</Application>
  <PresentationFormat>Widescreen</PresentationFormat>
  <Paragraphs>164</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Narrow</vt:lpstr>
      <vt:lpstr>Arial</vt:lpstr>
      <vt:lpstr>Bierstadt</vt:lpstr>
      <vt:lpstr>Google Sans</vt:lpstr>
      <vt:lpstr>Nunito</vt:lpstr>
      <vt:lpstr>GestaltVTI</vt:lpstr>
      <vt:lpstr>ML, AI and Data Science</vt:lpstr>
      <vt:lpstr>AGENDA</vt:lpstr>
      <vt:lpstr>Introduction to AI, ML and its relationship with Data Science </vt:lpstr>
      <vt:lpstr>Steps to Build a Machine Learning Model</vt:lpstr>
      <vt:lpstr>Why Machine Learning is Important?</vt:lpstr>
      <vt:lpstr>How to Build a Machine Learning Model</vt:lpstr>
      <vt:lpstr>1. Define the Problem</vt:lpstr>
      <vt:lpstr>2. Collect Data </vt:lpstr>
      <vt:lpstr>3. Data Cleaning and Preprocessing </vt:lpstr>
      <vt:lpstr>4. Exploratory Data Analysis (EDA) </vt:lpstr>
      <vt:lpstr>5. Feature Selection and Engineering </vt:lpstr>
      <vt:lpstr>6. Split Data into Training and Testing Sets</vt:lpstr>
      <vt:lpstr>7. Select a Machine Learning Algorithm </vt:lpstr>
      <vt:lpstr>8. Train the Model </vt:lpstr>
      <vt:lpstr>9. Evaluate Model Performance </vt:lpstr>
      <vt:lpstr>10. Hyperparameter Tuning </vt:lpstr>
      <vt:lpstr>11. Deploy the Model </vt:lpstr>
      <vt:lpstr>12. Monitor and Maintain the Model </vt:lpstr>
      <vt:lpstr>PowerPoint Presentation</vt:lpstr>
      <vt:lpstr>Common Terms Used in Machine Learning </vt:lpstr>
      <vt:lpstr>Types of Data in ML Project- by structure</vt:lpstr>
      <vt:lpstr>PowerPoint Presentation</vt:lpstr>
      <vt:lpstr>Data type - By Type/Nature</vt:lpstr>
      <vt:lpstr>PowerPoint Presentation</vt:lpstr>
      <vt:lpstr>ML Tools </vt:lpstr>
      <vt:lpstr>Statistics in Data Science</vt:lpstr>
      <vt:lpstr>Statistics For Data Science </vt:lpstr>
      <vt:lpstr>PowerPoint Presentation</vt:lpstr>
      <vt:lpstr>Data in Statistics?  </vt:lpstr>
      <vt:lpstr>PowerPoint Presentation</vt:lpstr>
      <vt:lpstr>Measure of Shape </vt:lpstr>
      <vt:lpstr>Python Statistics Libraries  </vt:lpstr>
      <vt:lpstr>Calculating Descriptive Statistics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3</cp:revision>
  <dcterms:created xsi:type="dcterms:W3CDTF">2026-02-05T13:27:25Z</dcterms:created>
  <dcterms:modified xsi:type="dcterms:W3CDTF">2026-02-05T15:45:48Z</dcterms:modified>
</cp:coreProperties>
</file>